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66" r:id="rId4"/>
    <p:sldId id="265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86"/>
    <p:restoredTop sz="94678"/>
  </p:normalViewPr>
  <p:slideViewPr>
    <p:cSldViewPr snapToGrid="0" snapToObjects="1">
      <p:cViewPr varScale="1">
        <p:scale>
          <a:sx n="99" d="100"/>
          <a:sy n="99" d="100"/>
        </p:scale>
        <p:origin x="200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修正：表紙のコピー・ロゴ・キャラクター・端末画像は維持。本文フォントと行間を統一。氏名が記載されていない開発者・担当欄は、仮の氏名を追加せず削除しました。</a:t>
            </a:r>
          </a:p>
          <a:p>
            <a:r>
              <a:t>確認事項：開発者名の掲載が必要な場合は、正式な氏名・役割を追記してください。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課題の見出しを、主語と負担の所在が伝わる表現に校正。「集まる／集中する」「比較する」などの語調を統一。3項目の番号・見出し・説明文の配置と余白を整えました。会話例の内容は維持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「3件以内」を「最大3件」に統一（主提案1件・別案最大2件の仕様は変更していません）。カード中の制作指示「同じ大きさのカード」を、意味が伝わる説明用ラベルに変更。3列の見出し・図・説明文を同一グリッドに整列しました。例示の店舗名や新しい機能は追加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隠れた制作指示を含むスクリーンショットの仮置き文言を削除。原資料に実画像のある起動画面・質問画面はそのまま使用し、未配置だった右2画面には原資料5ページの「会話・候補カード」「店舗詳細」を再利用しました。再利用画像は質問回答の連続キャプチャではないため、スライド上で「チャット入力時の表示例」と明記しています。画像は縦横比を保って整列し、ラベルと進行方向を整理しました。</a:t>
            </a:r>
          </a:p>
          <a:p>
            <a:r>
              <a:t>公開前の確認：実際の質問回答ルートを連続して撮影した画面が用意できた場合は、右2画面を差し替えてください。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表示内容が自由入力画面である2枚目のキャプションを「質問画面」から「希望を入力」に訂正。資料内の4枚の実画像は内容を変更せず使用し、縦横比・高さ・間隔・キャプション位置を統一しました。画像の背後に残っていた制作指示も削除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「変わった点だけ選び直し」などの不自然な表現を校正。四つの場面の見出しを揃え、説明用の応答例は丁寧語で統一しました。「条件の保持」「不足情報の確認」「比較時にカードを変えない」「候補数を無理に埋めない」という原資料の応答方針は維持しています。</a:t>
            </a:r>
          </a:p>
          <a:p>
            <a:r>
              <a:t>注記：掲載文は実際の応答ログではなく、原資料と同様、方針を説明するための例です。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修正：誤字「HTTPS Reqests」を解消し、通信の方向とラベルを「HTTPS／リクエスト」「SSE／ストリーム」に整理。元の構成・接続先・矢印の向きは変更していません。アイコンとラベルの高さ、各領域の余白を統一し、製品名と役割を分けて読みやすくしました。</a:t>
            </a:r>
          </a:p>
          <a:p>
            <a:r>
              <a:t>原文維持：React Native、Expo、TypeScript、Cloudflare Workers、Hono、各Durable Object名、SecureStore、OpenAI、gpt-5.6-luna、ホットペッパーグルメの技術構成は原資料を維持しています。</a:t>
            </a:r>
          </a:p>
          <a:p>
            <a:r>
              <a:t>公開前の確認：モデル識別子「gpt-5.6-luna」が実装上の正式な識別子・対外表記と一致するかは未検証です。今回の作業では技術仕様の外部調査や実装照合を行っていません。正式な表記が確認できた場合のみ変更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修正：原資料の中央「いまの ima」と周囲の将来像という関係を維持し、「今後の展開」と明記。現在の提供範囲と構想が混同されないようにしました。「パーソナライズされた意味のある店」などの抽象的な表現を校正。元のビットマップ接続図は、同じ関係を表す編集可能なPowerPointの線と図形に置き換えました。</a:t>
            </a:r>
          </a:p>
          <a:p>
            <a:r>
              <a:t>注意：周囲の4項目を実装済み機能として検証したものではありません。原資料の将来像として整理しています。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81901" y="533400"/>
            <a:ext cx="1676549" cy="40005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58450" y="742950"/>
            <a:ext cx="114300" cy="9525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72750" y="828675"/>
            <a:ext cx="66675" cy="66675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7" name="Picture 6" descr="img_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41832"/>
            <a:ext cx="2095500" cy="1329035"/>
          </a:xfrm>
          <a:prstGeom prst="rect">
            <a:avLst/>
          </a:prstGeom>
        </p:spPr>
      </p:pic>
      <p:pic>
        <p:nvPicPr>
          <p:cNvPr id="14" name="Picture 13" descr="img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254" y="1047750"/>
            <a:ext cx="2342618" cy="5219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24544" y="585216"/>
            <a:ext cx="145389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latinLnBrk="0" eaLnBrk="1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いっしょに探すわん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609600" y="2551176"/>
            <a:ext cx="6903720" cy="12070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会話でお店を探す</a:t>
            </a:r>
          </a:p>
          <a:p>
            <a:pPr algn="l" latinLnBrk="0" eaLnBrk="1"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アプリ「ima」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1390650"/>
            <a:ext cx="3810000" cy="49149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2238375"/>
            <a:ext cx="1517904" cy="53340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7250" y="2828925"/>
            <a:ext cx="1691640" cy="53340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90600" y="3362325"/>
            <a:ext cx="114300" cy="9525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3925" y="3457575"/>
            <a:ext cx="66675" cy="66675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9190" y="4000500"/>
            <a:ext cx="2792760" cy="5334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24300" y="4533900"/>
            <a:ext cx="114300" cy="952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38600" y="4629150"/>
            <a:ext cx="66675" cy="66675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7250" y="5172075"/>
            <a:ext cx="3314700" cy="53340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0600" y="5705475"/>
            <a:ext cx="114300" cy="9525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3925" y="5800725"/>
            <a:ext cx="66675" cy="66675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02352" y="2432304"/>
            <a:ext cx="438912" cy="438912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102352" y="3282696"/>
            <a:ext cx="6480352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5102352" y="3575304"/>
            <a:ext cx="438912" cy="438912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5102352" y="4425696"/>
            <a:ext cx="6480352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102352" y="4718304"/>
            <a:ext cx="438912" cy="438912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Title"/>
          <p:cNvSpPr txBox="1"/>
          <p:nvPr/>
        </p:nvSpPr>
        <p:spPr>
          <a:xfrm>
            <a:off x="609600" y="438912"/>
            <a:ext cx="9857232" cy="5760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お店探しを任された人の負担：検索・比較・探し直し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" y="1938528"/>
            <a:ext cx="731520" cy="2377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同行者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322576"/>
            <a:ext cx="1426464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次どこ行く？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16936"/>
            <a:ext cx="1499616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どこでもいいよ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30752"/>
            <a:ext cx="694944" cy="2377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探す役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4096512"/>
            <a:ext cx="2560320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ちょっと待って、調べてみる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" y="4901184"/>
            <a:ext cx="731520" cy="2377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同行者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217627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まだ決まらない？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2427732"/>
            <a:ext cx="438912" cy="4480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2391156"/>
            <a:ext cx="5788152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探す負担が1人に集中する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2852928"/>
            <a:ext cx="5788152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「どこでもいいよ」と任され、地図と検索を行き来する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570732"/>
            <a:ext cx="438912" cy="4480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3534156"/>
            <a:ext cx="5788152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候補が多く、決めきれない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8152" y="3995928"/>
            <a:ext cx="5788152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検索結果を比較するうちに、時間が過ぎてしまう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713732"/>
            <a:ext cx="438912" cy="4480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8152" y="4677156"/>
            <a:ext cx="5788152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希望が変わると、探し直しになる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5138928"/>
            <a:ext cx="5788152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条件が変わるたびに、検索や候補の比較をやり直す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64808"/>
            <a:ext cx="59436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ima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329184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09600" y="2295144"/>
            <a:ext cx="3353104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609600" y="1874519"/>
            <a:ext cx="265176" cy="265176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2171395" y="2450592"/>
            <a:ext cx="228600" cy="137160"/>
          </a:xfrm>
          <a:custGeom>
            <a:avLst/>
            <a:gdLst/>
            <a:ahLst/>
            <a:cxnLst/>
            <a:rect l="l" t="t" r="r" b="b"/>
            <a:pathLst>
              <a:path w="228600" h="142875">
                <a:moveTo>
                  <a:pt x="0" y="0"/>
                </a:moveTo>
                <a:lnTo>
                  <a:pt x="228600" y="0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721608"/>
            <a:ext cx="2670048" cy="832104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33064" y="4553712"/>
            <a:ext cx="114300" cy="952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47364" y="4648809"/>
            <a:ext cx="66675" cy="66675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419599" y="2295144"/>
            <a:ext cx="3353104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4419599" y="1874519"/>
            <a:ext cx="265176" cy="265176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5981394" y="2450592"/>
            <a:ext cx="228600" cy="137160"/>
          </a:xfrm>
          <a:custGeom>
            <a:avLst/>
            <a:gdLst/>
            <a:ahLst/>
            <a:cxnLst/>
            <a:rect l="l" t="t" r="r" b="b"/>
            <a:pathLst>
              <a:path w="228600" h="142875">
                <a:moveTo>
                  <a:pt x="0" y="0"/>
                </a:moveTo>
                <a:lnTo>
                  <a:pt x="228600" y="0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9599" y="3602736"/>
            <a:ext cx="3353104" cy="402336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9599" y="4096512"/>
            <a:ext cx="3353104" cy="402336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9599" y="4590288"/>
            <a:ext cx="3353104" cy="402336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229600" y="2295144"/>
            <a:ext cx="3353104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8229600" y="1874519"/>
            <a:ext cx="265176" cy="265176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9791395" y="2450592"/>
            <a:ext cx="228600" cy="137160"/>
          </a:xfrm>
          <a:custGeom>
            <a:avLst/>
            <a:gdLst/>
            <a:ahLst/>
            <a:cxnLst/>
            <a:rect l="l" t="t" r="r" b="b"/>
            <a:pathLst>
              <a:path w="228600" h="142875">
                <a:moveTo>
                  <a:pt x="0" y="0"/>
                </a:moveTo>
                <a:lnTo>
                  <a:pt x="228600" y="0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Title"/>
          <p:cNvSpPr txBox="1"/>
          <p:nvPr/>
        </p:nvSpPr>
        <p:spPr>
          <a:xfrm>
            <a:off x="609600" y="438912"/>
            <a:ext cx="9857232" cy="5760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会話で希望を伝え、提案を調整しながらお店を決める</a:t>
            </a:r>
          </a:p>
        </p:txBody>
      </p:sp>
      <p:sp>
        <p:nvSpPr>
          <p:cNvPr id="47" name="Conversation feature explanation"/>
          <p:cNvSpPr txBox="1"/>
          <p:nvPr/>
        </p:nvSpPr>
        <p:spPr>
          <a:xfrm>
            <a:off x="609600" y="1143000"/>
            <a:ext cx="9857232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最初の希望も、提案への追加要望や条件変更も、普段の言葉で伝えられる。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504" y="1865376"/>
            <a:ext cx="2962656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探す負担が1人に集中する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1869033"/>
            <a:ext cx="26517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770632"/>
            <a:ext cx="3383280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552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探すのは ima に任せる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" y="3845052"/>
            <a:ext cx="2359152" cy="5852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友だちと和食の定食、</a:t>
            </a:r>
          </a:p>
          <a:p>
            <a:pPr algn="l" latinLnBrk="0" eaLnBrk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予算は4,000円くらいまで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266944"/>
            <a:ext cx="3392424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状況をそのまま入力するか、</a:t>
            </a:r>
          </a:p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5つの質問にタップで答えるだけ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4503" y="1865376"/>
            <a:ext cx="2962656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候補が多く、決めきれない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599" y="1869033"/>
            <a:ext cx="26517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599" y="2770632"/>
            <a:ext cx="3383280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552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最大3件に絞って提案する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662172"/>
            <a:ext cx="566928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主提案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3657600"/>
            <a:ext cx="2304288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条件に合う候補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155948"/>
            <a:ext cx="566928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別案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4151376"/>
            <a:ext cx="2304288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比較する候補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649724"/>
            <a:ext cx="566928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別案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5232" y="4645151"/>
            <a:ext cx="2304288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比較する候補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9599" y="5266944"/>
            <a:ext cx="3392424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主提案1件と別案を最大2件、</a:t>
            </a:r>
          </a:p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比較しやすい形式で並べる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4504" y="1865376"/>
            <a:ext cx="2962656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希望が変わると、探し直しになる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869033"/>
            <a:ext cx="26517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770632"/>
            <a:ext cx="3383280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552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会話で候補を調整する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266944"/>
            <a:ext cx="3392424" cy="8686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提案を見て、追加の希望や条件変更を</a:t>
            </a:r>
          </a:p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伝える。会話を続けながら、</a:t>
            </a:r>
          </a:p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行くお店を決められる。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464808"/>
            <a:ext cx="59436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ima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73952"/>
            <a:ext cx="329184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8" name="User additional request bubble"/>
          <p:cNvSpPr/>
          <p:nvPr/>
        </p:nvSpPr>
        <p:spPr>
          <a:xfrm>
            <a:off x="9424721" y="3543300"/>
            <a:ext cx="2157984" cy="448056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9" name="User additional request tail 1"/>
          <p:cNvSpPr/>
          <p:nvPr/>
        </p:nvSpPr>
        <p:spPr>
          <a:xfrm>
            <a:off x="11335085" y="3991356"/>
            <a:ext cx="114300" cy="9528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User additional request tail 2"/>
          <p:cNvSpPr/>
          <p:nvPr/>
        </p:nvSpPr>
        <p:spPr>
          <a:xfrm>
            <a:off x="11449385" y="4086636"/>
            <a:ext cx="66660" cy="6666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1" name="Ima revised proposal bubble"/>
          <p:cNvSpPr/>
          <p:nvPr/>
        </p:nvSpPr>
        <p:spPr>
          <a:xfrm>
            <a:off x="8229600" y="4265676"/>
            <a:ext cx="3353105" cy="6858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Ima revised proposal tail 1"/>
          <p:cNvSpPr/>
          <p:nvPr/>
        </p:nvSpPr>
        <p:spPr>
          <a:xfrm>
            <a:off x="8362920" y="4951476"/>
            <a:ext cx="114300" cy="952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3" name="Ima revised proposal tail 2"/>
          <p:cNvSpPr/>
          <p:nvPr/>
        </p:nvSpPr>
        <p:spPr>
          <a:xfrm>
            <a:off x="8296260" y="5046756"/>
            <a:ext cx="66660" cy="666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4" name="User additional request label"/>
          <p:cNvSpPr txBox="1"/>
          <p:nvPr/>
        </p:nvSpPr>
        <p:spPr>
          <a:xfrm>
            <a:off x="9424721" y="3268980"/>
            <a:ext cx="2157984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ユーザーの追加要望</a:t>
            </a:r>
          </a:p>
        </p:txBody>
      </p:sp>
      <p:sp>
        <p:nvSpPr>
          <p:cNvPr id="55" name="User additional request text"/>
          <p:cNvSpPr txBox="1"/>
          <p:nvPr/>
        </p:nvSpPr>
        <p:spPr>
          <a:xfrm>
            <a:off x="9571025" y="3641141"/>
            <a:ext cx="1901952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やっぱり個室がいい</a:t>
            </a:r>
          </a:p>
        </p:txBody>
      </p:sp>
      <p:sp>
        <p:nvSpPr>
          <p:cNvPr id="56" name="Ima revised proposal label"/>
          <p:cNvSpPr txBox="1"/>
          <p:nvPr/>
        </p:nvSpPr>
        <p:spPr>
          <a:xfrm>
            <a:off x="8229600" y="3973068"/>
            <a:ext cx="283464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ima の再提案</a:t>
            </a:r>
          </a:p>
        </p:txBody>
      </p:sp>
      <p:sp>
        <p:nvSpPr>
          <p:cNvPr id="57" name="Ima revised proposal text"/>
          <p:cNvSpPr txBox="1"/>
          <p:nvPr/>
        </p:nvSpPr>
        <p:spPr>
          <a:xfrm>
            <a:off x="8375904" y="4361688"/>
            <a:ext cx="3060497" cy="5120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和食・4,000円以内の条件はそのままに、</a:t>
            </a:r>
          </a:p>
          <a:p>
            <a:pPr algn="l" latinLnBrk="0" eaLnBrk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個室のあるお店を選び直しました</a:t>
            </a:r>
          </a:p>
        </p:txBody>
      </p:sp>
      <p:sp>
        <p:nvSpPr>
          <p:cNvPr id="58" name="Illustrative conversation note"/>
          <p:cNvSpPr txBox="1"/>
          <p:nvPr/>
        </p:nvSpPr>
        <p:spPr>
          <a:xfrm>
            <a:off x="8229600" y="6217920"/>
            <a:ext cx="3353105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※会話は説明用の例です。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03E02-AB74-598A-507A-504FFF02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5_11.png">
            <a:extLst>
              <a:ext uri="{FF2B5EF4-FFF2-40B4-BE49-F238E27FC236}">
                <a16:creationId xmlns:a16="http://schemas.microsoft.com/office/drawing/2014/main" id="{0B5D8F49-B00F-B19D-434F-D00346C8E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78CA18E7-7728-77D6-C015-ECDA4A07B03C}"/>
              </a:ext>
            </a:extLst>
          </p:cNvPr>
          <p:cNvSpPr txBox="1"/>
          <p:nvPr/>
        </p:nvSpPr>
        <p:spPr>
          <a:xfrm>
            <a:off x="609600" y="438912"/>
            <a:ext cx="9857232" cy="5760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使い方①：質問に答えてお店を探す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574C9-2FCA-1FDD-C5F6-BFA91835592B}"/>
              </a:ext>
            </a:extLst>
          </p:cNvPr>
          <p:cNvSpPr txBox="1"/>
          <p:nvPr/>
        </p:nvSpPr>
        <p:spPr>
          <a:xfrm>
            <a:off x="445008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起動画面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CF801F-B157-FC77-C8F1-29311C81CCC9}"/>
              </a:ext>
            </a:extLst>
          </p:cNvPr>
          <p:cNvSpPr txBox="1"/>
          <p:nvPr/>
        </p:nvSpPr>
        <p:spPr>
          <a:xfrm>
            <a:off x="3456431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質問に回答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589FC9-6D02-364A-829C-5B5E0B58C543}"/>
              </a:ext>
            </a:extLst>
          </p:cNvPr>
          <p:cNvSpPr txBox="1"/>
          <p:nvPr/>
        </p:nvSpPr>
        <p:spPr>
          <a:xfrm>
            <a:off x="6467856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会話・候補カード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B44272-9B19-2C4B-6EE4-5584DEA550AC}"/>
              </a:ext>
            </a:extLst>
          </p:cNvPr>
          <p:cNvSpPr txBox="1"/>
          <p:nvPr/>
        </p:nvSpPr>
        <p:spPr>
          <a:xfrm>
            <a:off x="9479279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店舗詳細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9A65C3-D92B-F36C-1EFC-6F9DC0A06CAA}"/>
              </a:ext>
            </a:extLst>
          </p:cNvPr>
          <p:cNvSpPr txBox="1"/>
          <p:nvPr/>
        </p:nvSpPr>
        <p:spPr>
          <a:xfrm>
            <a:off x="609600" y="6464808"/>
            <a:ext cx="59436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1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ima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FE52B5-6C5A-C80C-F73A-7FC9B0811E6E}"/>
              </a:ext>
            </a:extLst>
          </p:cNvPr>
          <p:cNvSpPr txBox="1"/>
          <p:nvPr/>
        </p:nvSpPr>
        <p:spPr>
          <a:xfrm>
            <a:off x="11247120" y="6473952"/>
            <a:ext cx="329184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8" name="画面フレーム 1"/>
          <p:cNvSpPr/>
          <p:nvPr/>
        </p:nvSpPr>
        <p:spPr>
          <a:xfrm>
            <a:off x="691990" y="1527048"/>
            <a:ext cx="1773747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8FD82F87-381A-8160-5B5C-D1135294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1990" y="1527048"/>
            <a:ext cx="1773747" cy="4041648"/>
          </a:xfrm>
          <a:prstGeom prst="rect">
            <a:avLst/>
          </a:prstGeom>
        </p:spPr>
      </p:pic>
      <p:sp>
        <p:nvSpPr>
          <p:cNvPr id="29" name="画面フレーム 2"/>
          <p:cNvSpPr/>
          <p:nvPr/>
        </p:nvSpPr>
        <p:spPr>
          <a:xfrm>
            <a:off x="3653551" y="1527048"/>
            <a:ext cx="1873472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EF4B7926-1060-A423-5403-7C51CCA837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53551" y="1527048"/>
            <a:ext cx="1873472" cy="4041648"/>
          </a:xfrm>
          <a:prstGeom prst="rect">
            <a:avLst/>
          </a:prstGeom>
        </p:spPr>
      </p:pic>
      <p:sp>
        <p:nvSpPr>
          <p:cNvPr id="30" name="画面フレーム 3"/>
          <p:cNvSpPr/>
          <p:nvPr/>
        </p:nvSpPr>
        <p:spPr>
          <a:xfrm>
            <a:off x="6659535" y="1527048"/>
            <a:ext cx="1884352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会話と候補カード：資料内の表示例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9535" y="1527048"/>
            <a:ext cx="1884352" cy="4041648"/>
          </a:xfrm>
          <a:prstGeom prst="rect">
            <a:avLst/>
          </a:prstGeom>
        </p:spPr>
      </p:pic>
      <p:sp>
        <p:nvSpPr>
          <p:cNvPr id="31" name="画面フレーム 4"/>
          <p:cNvSpPr/>
          <p:nvPr/>
        </p:nvSpPr>
        <p:spPr>
          <a:xfrm>
            <a:off x="9678635" y="1527048"/>
            <a:ext cx="1869000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店舗詳細：資料内の表示例" descr="imag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678635" y="1527048"/>
            <a:ext cx="1869000" cy="4041648"/>
          </a:xfrm>
          <a:prstGeom prst="rect">
            <a:avLst/>
          </a:prstGeom>
        </p:spPr>
      </p:pic>
      <p:cxnSp>
        <p:nvCxnSpPr>
          <p:cNvPr id="32" name="画面遷移 1"/>
          <p:cNvCxnSpPr/>
          <p:nvPr/>
        </p:nvCxnSpPr>
        <p:spPr>
          <a:xfrm>
            <a:off x="2731007" y="3593592"/>
            <a:ext cx="670561" cy="0"/>
          </a:xfrm>
          <a:prstGeom prst="line">
            <a:avLst/>
          </a:prstGeom>
          <a:ln w="12700">
            <a:solidFill>
              <a:srgbClr val="6B6A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画面遷移 2"/>
          <p:cNvCxnSpPr/>
          <p:nvPr/>
        </p:nvCxnSpPr>
        <p:spPr>
          <a:xfrm>
            <a:off x="5742431" y="3593592"/>
            <a:ext cx="670560" cy="0"/>
          </a:xfrm>
          <a:prstGeom prst="line">
            <a:avLst/>
          </a:prstGeom>
          <a:ln w="12700">
            <a:solidFill>
              <a:srgbClr val="6B6A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画面遷移 3"/>
          <p:cNvCxnSpPr/>
          <p:nvPr/>
        </p:nvCxnSpPr>
        <p:spPr>
          <a:xfrm>
            <a:off x="8753856" y="3593592"/>
            <a:ext cx="670559" cy="0"/>
          </a:xfrm>
          <a:prstGeom prst="line">
            <a:avLst/>
          </a:prstGeom>
          <a:ln w="12700">
            <a:solidFill>
              <a:srgbClr val="6B6A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画面の注記"/>
          <p:cNvSpPr txBox="1"/>
          <p:nvPr/>
        </p:nvSpPr>
        <p:spPr>
          <a:xfrm>
            <a:off x="609600" y="6245352"/>
            <a:ext cx="10607040" cy="2103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※右2画面は、チャット入力時の表示例です。画面は開発中のものです。</a:t>
            </a:r>
          </a:p>
        </p:txBody>
      </p:sp>
    </p:spTree>
    <p:extLst>
      <p:ext uri="{BB962C8B-B14F-4D97-AF65-F5344CB8AC3E}">
        <p14:creationId xmlns:p14="http://schemas.microsoft.com/office/powerpoint/2010/main" val="2026625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5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609600" y="438912"/>
            <a:ext cx="9857232" cy="5760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使い方②：チャットに希望を入力して探す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008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起動画面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1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希望を入力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856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会話・候補カード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279" y="5760720"/>
            <a:ext cx="2267712" cy="347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店舗詳細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64808"/>
            <a:ext cx="59436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ima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329184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8" name="画面フレーム 1"/>
          <p:cNvSpPr/>
          <p:nvPr/>
        </p:nvSpPr>
        <p:spPr>
          <a:xfrm>
            <a:off x="691990" y="1527048"/>
            <a:ext cx="1773747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E2135005-EB4C-CA32-2F97-C006A216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1990" y="1527048"/>
            <a:ext cx="1773747" cy="4041648"/>
          </a:xfrm>
          <a:prstGeom prst="rect">
            <a:avLst/>
          </a:prstGeom>
        </p:spPr>
      </p:pic>
      <p:sp>
        <p:nvSpPr>
          <p:cNvPr id="29" name="画面フレーム 2"/>
          <p:cNvSpPr/>
          <p:nvPr/>
        </p:nvSpPr>
        <p:spPr>
          <a:xfrm>
            <a:off x="3645829" y="1527048"/>
            <a:ext cx="1888916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C8942D1-8753-FA9C-05AC-E0591C0E1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45829" y="1527048"/>
            <a:ext cx="1888916" cy="4041648"/>
          </a:xfrm>
          <a:prstGeom prst="rect">
            <a:avLst/>
          </a:prstGeom>
        </p:spPr>
      </p:pic>
      <p:sp>
        <p:nvSpPr>
          <p:cNvPr id="30" name="画面フレーム 3"/>
          <p:cNvSpPr/>
          <p:nvPr/>
        </p:nvSpPr>
        <p:spPr>
          <a:xfrm>
            <a:off x="6659535" y="1527048"/>
            <a:ext cx="1884352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4B759DE-BACF-E12F-36A8-80659D5D30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9535" y="1527048"/>
            <a:ext cx="1884352" cy="4041648"/>
          </a:xfrm>
          <a:prstGeom prst="rect">
            <a:avLst/>
          </a:prstGeom>
        </p:spPr>
      </p:pic>
      <p:sp>
        <p:nvSpPr>
          <p:cNvPr id="31" name="画面フレーム 4"/>
          <p:cNvSpPr/>
          <p:nvPr/>
        </p:nvSpPr>
        <p:spPr>
          <a:xfrm>
            <a:off x="9678635" y="1527048"/>
            <a:ext cx="1869000" cy="4041648"/>
          </a:xfrm>
          <a:prstGeom prst="rect">
            <a:avLst/>
          </a:prstGeom>
          <a:noFill/>
          <a:ln w="825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81BC9560-96DA-A74D-B2A3-9E8CAC7335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678635" y="1527048"/>
            <a:ext cx="1869000" cy="4041648"/>
          </a:xfrm>
          <a:prstGeom prst="rect">
            <a:avLst/>
          </a:prstGeom>
        </p:spPr>
      </p:pic>
      <p:cxnSp>
        <p:nvCxnSpPr>
          <p:cNvPr id="32" name="画面遷移 1"/>
          <p:cNvCxnSpPr/>
          <p:nvPr/>
        </p:nvCxnSpPr>
        <p:spPr>
          <a:xfrm>
            <a:off x="2731007" y="3593592"/>
            <a:ext cx="670561" cy="0"/>
          </a:xfrm>
          <a:prstGeom prst="line">
            <a:avLst/>
          </a:prstGeom>
          <a:ln w="12700">
            <a:solidFill>
              <a:srgbClr val="6B6A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画面遷移 2"/>
          <p:cNvCxnSpPr/>
          <p:nvPr/>
        </p:nvCxnSpPr>
        <p:spPr>
          <a:xfrm>
            <a:off x="5742431" y="3593592"/>
            <a:ext cx="670560" cy="0"/>
          </a:xfrm>
          <a:prstGeom prst="line">
            <a:avLst/>
          </a:prstGeom>
          <a:ln w="12700">
            <a:solidFill>
              <a:srgbClr val="6B6A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画面遷移 3"/>
          <p:cNvCxnSpPr/>
          <p:nvPr/>
        </p:nvCxnSpPr>
        <p:spPr>
          <a:xfrm>
            <a:off x="8753856" y="3593592"/>
            <a:ext cx="670559" cy="0"/>
          </a:xfrm>
          <a:prstGeom prst="line">
            <a:avLst/>
          </a:prstGeom>
          <a:ln w="12700">
            <a:solidFill>
              <a:srgbClr val="6B6A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画面の注記"/>
          <p:cNvSpPr txBox="1"/>
          <p:nvPr/>
        </p:nvSpPr>
        <p:spPr>
          <a:xfrm>
            <a:off x="609600" y="6245352"/>
            <a:ext cx="10607040" cy="2103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※画面は開発中のものです。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6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09600" y="1400175"/>
            <a:ext cx="5219700" cy="0"/>
          </a:xfrm>
          <a:prstGeom prst="line">
            <a:avLst/>
          </a:prstGeom>
          <a:ln w="19050">
            <a:solidFill>
              <a:srgbClr val="ECEBE6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3720108" y="2105025"/>
            <a:ext cx="2109192" cy="481012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581650" y="2586038"/>
            <a:ext cx="114300" cy="952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95950" y="2681288"/>
            <a:ext cx="66675" cy="66675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700338"/>
            <a:ext cx="4476750" cy="752475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2950" y="3452812"/>
            <a:ext cx="114300" cy="9525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275" y="3548062"/>
            <a:ext cx="66675" cy="66675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362700" y="1400175"/>
            <a:ext cx="5219700" cy="0"/>
          </a:xfrm>
          <a:prstGeom prst="line">
            <a:avLst/>
          </a:prstGeom>
          <a:ln w="19050">
            <a:solidFill>
              <a:srgbClr val="ECEBE6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9648676" y="2105025"/>
            <a:ext cx="1933724" cy="481012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334750" y="2586038"/>
            <a:ext cx="114300" cy="952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49050" y="2681288"/>
            <a:ext cx="66675" cy="66675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62700" y="2700338"/>
            <a:ext cx="4476750" cy="752475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6050" y="3452812"/>
            <a:ext cx="114300" cy="9525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29375" y="3548062"/>
            <a:ext cx="66675" cy="66675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609600" y="3724275"/>
            <a:ext cx="5219700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3508325" y="4564856"/>
            <a:ext cx="2320975" cy="481012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81650" y="5045869"/>
            <a:ext cx="114300" cy="952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95950" y="5141119"/>
            <a:ext cx="66675" cy="66675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9600" y="5160169"/>
            <a:ext cx="4476750" cy="7132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2950" y="5873374"/>
            <a:ext cx="114300" cy="9525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275" y="5968654"/>
            <a:ext cx="66675" cy="66675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6362700" y="3724275"/>
            <a:ext cx="5219700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pic>
        <p:nvPicPr>
          <p:cNvPr id="25" name="Picture 24" descr="img_6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669" y="4000500"/>
            <a:ext cx="384048" cy="3840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292233" y="4564856"/>
            <a:ext cx="2290167" cy="481012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334750" y="5045869"/>
            <a:ext cx="114300" cy="952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449050" y="5141119"/>
            <a:ext cx="66675" cy="66675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62700" y="5160169"/>
            <a:ext cx="4476750" cy="7132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6050" y="5873374"/>
            <a:ext cx="114300" cy="9525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29375" y="5968654"/>
            <a:ext cx="66675" cy="66675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2" name="Title"/>
          <p:cNvSpPr txBox="1"/>
          <p:nvPr/>
        </p:nvSpPr>
        <p:spPr>
          <a:xfrm>
            <a:off x="609600" y="438912"/>
            <a:ext cx="9857232" cy="5760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imaの応答例：情報確認・条件変更・候補比較・該当なし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1664208"/>
            <a:ext cx="3017520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現在地が取得できない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5052" y="2203704"/>
            <a:ext cx="192024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近くで定食が食べたい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2793492"/>
            <a:ext cx="4151376" cy="603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現在地を取得できないため、</a:t>
            </a:r>
          </a:p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駅名や地名を教えてください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2669" y="1664208"/>
            <a:ext cx="3017520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条件を変更したい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2203704"/>
            <a:ext cx="1719072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やっぱり個室がいい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5100" y="2793492"/>
            <a:ext cx="4187952" cy="6035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和食の定食・4,000円以内の条件は変えず、</a:t>
            </a:r>
          </a:p>
          <a:p>
            <a:pPr algn="l" latinLnBrk="0" eaLnBrk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個室のあるお店を選び直しました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078224"/>
            <a:ext cx="3017520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候補を比較したい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663440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1件目と2件目の違いは？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253228"/>
            <a:ext cx="4151376" cy="5852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候補カードはそのままに、</a:t>
            </a:r>
          </a:p>
          <a:p>
            <a:pPr algn="l" latinLnBrk="0" eaLnBrk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違いを文章でお伝えします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078224"/>
            <a:ext cx="4480560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条件に合うお店がない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9176" y="466344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この近くでジンギスカン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5100" y="5253228"/>
            <a:ext cx="4187952" cy="5852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条件に合うお店が見つからない場合は、</a:t>
            </a:r>
          </a:p>
          <a:p>
            <a:pPr algn="l" latinLnBrk="0" eaLnBrk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候補数を無理に埋めずにお伝えします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227064"/>
            <a:ext cx="777240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※吹き出しは、応答方針を説明するための例です。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464808"/>
            <a:ext cx="59436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ima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73952"/>
            <a:ext cx="329184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7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1532890"/>
            <a:ext cx="2857500" cy="4574381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" name="Picture 3" descr="img_7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423160"/>
            <a:ext cx="685800" cy="685800"/>
          </a:xfrm>
          <a:prstGeom prst="rect">
            <a:avLst/>
          </a:prstGeom>
        </p:spPr>
      </p:pic>
      <p:pic>
        <p:nvPicPr>
          <p:cNvPr id="5" name="Picture 4" descr="img_7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772" y="2423160"/>
            <a:ext cx="685800" cy="685800"/>
          </a:xfrm>
          <a:prstGeom prst="rect">
            <a:avLst/>
          </a:prstGeom>
        </p:spPr>
      </p:pic>
      <p:pic>
        <p:nvPicPr>
          <p:cNvPr id="6" name="Picture 5" descr="img_7_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2423160"/>
            <a:ext cx="685800" cy="685800"/>
          </a:xfrm>
          <a:prstGeom prst="rect">
            <a:avLst/>
          </a:prstGeom>
        </p:spPr>
      </p:pic>
      <p:pic>
        <p:nvPicPr>
          <p:cNvPr id="7" name="Picture 6" descr="img_7_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3749039"/>
            <a:ext cx="1333469" cy="6858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81812" y="4965192"/>
            <a:ext cx="2514600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4343400" y="1532890"/>
            <a:ext cx="4152900" cy="4574381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 dirty="0"/>
          </a:p>
        </p:txBody>
      </p:sp>
      <p:pic>
        <p:nvPicPr>
          <p:cNvPr id="14" name="Picture 13" descr="img_7_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307" y="2423160"/>
            <a:ext cx="1333469" cy="685800"/>
          </a:xfrm>
          <a:prstGeom prst="rect">
            <a:avLst/>
          </a:prstGeom>
        </p:spPr>
      </p:pic>
      <p:pic>
        <p:nvPicPr>
          <p:cNvPr id="15" name="Picture 14" descr="img_7_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423160"/>
            <a:ext cx="1333469" cy="685800"/>
          </a:xfrm>
          <a:prstGeom prst="rect">
            <a:avLst/>
          </a:prstGeom>
        </p:spPr>
      </p:pic>
      <p:pic>
        <p:nvPicPr>
          <p:cNvPr id="16" name="Picture 15" descr="img_7_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2423160"/>
            <a:ext cx="685800" cy="685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15307" y="3621024"/>
            <a:ext cx="1867204" cy="667512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57950" y="3621024"/>
            <a:ext cx="1867204" cy="667512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15307" y="4416552"/>
            <a:ext cx="1867204" cy="667512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57950" y="4416552"/>
            <a:ext cx="1867204" cy="667512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515307" y="5239512"/>
            <a:ext cx="3810304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9372600" y="1532890"/>
            <a:ext cx="2209800" cy="2220516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7" name="Picture 26" descr="img_7_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4569" y="1911095"/>
            <a:ext cx="685800" cy="685800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9544507" y="3017520"/>
            <a:ext cx="1867204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9372600" y="3886756"/>
            <a:ext cx="2209800" cy="2220516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0" name="Picture 29" descr="img_7_2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80" y="4288536"/>
            <a:ext cx="1333469" cy="685800"/>
          </a:xfrm>
          <a:prstGeom prst="rect">
            <a:avLst/>
          </a:prstGeom>
        </p:spPr>
      </p:pic>
      <p:cxnSp>
        <p:nvCxnSpPr>
          <p:cNvPr id="31" name="Connector 30"/>
          <p:cNvCxnSpPr/>
          <p:nvPr/>
        </p:nvCxnSpPr>
        <p:spPr>
          <a:xfrm>
            <a:off x="9544507" y="5385816"/>
            <a:ext cx="1867204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35" name="Title"/>
          <p:cNvSpPr txBox="1"/>
          <p:nvPr/>
        </p:nvSpPr>
        <p:spPr>
          <a:xfrm>
            <a:off x="609600" y="438912"/>
            <a:ext cx="9857232" cy="5760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imaのシステム構成と外部サービス連携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" y="1728216"/>
            <a:ext cx="2514600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フロントエンド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191256"/>
            <a:ext cx="832104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React Native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3191256"/>
            <a:ext cx="749808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Expo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4580" y="3191256"/>
            <a:ext cx="832104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TypeScript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" y="4517136"/>
            <a:ext cx="2514600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会話キャッシュ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" y="5148072"/>
            <a:ext cx="2514600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SecureStore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3191256"/>
            <a:ext cx="72237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HTTPS</a:t>
            </a:r>
          </a:p>
          <a:p>
            <a:pPr algn="ctr" latinLnBrk="0" eaLnBrk="1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リクエスト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8728" y="4096512"/>
            <a:ext cx="722376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SSE</a:t>
            </a:r>
          </a:p>
          <a:p>
            <a:pPr algn="ctr" latinLnBrk="0" eaLnBrk="1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ストリーム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9704" y="3191256"/>
            <a:ext cx="1380744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Cloudflare Workers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3191256"/>
            <a:ext cx="1371600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HTTP受付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0628" y="3191256"/>
            <a:ext cx="813816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TypeScript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5035" y="3689604"/>
            <a:ext cx="1664208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ConversationHistoryDO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5035" y="3977639"/>
            <a:ext cx="1664208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会話履歴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7678" y="3689604"/>
            <a:ext cx="1664208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ThreadDO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7678" y="3977639"/>
            <a:ext cx="1664208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AIの実行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25035" y="4485132"/>
            <a:ext cx="1664208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SavedReferenceDO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25035" y="4773168"/>
            <a:ext cx="1664208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保存・決定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7678" y="4485132"/>
            <a:ext cx="1664208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21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TelemetryDO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7678" y="4773168"/>
            <a:ext cx="1664208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運用ログ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5307" y="5404104"/>
            <a:ext cx="38103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Durable Objects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0496" y="2514600"/>
            <a:ext cx="777240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ThreadDO</a:t>
            </a:r>
          </a:p>
          <a:p>
            <a:pPr algn="ctr" latinLnBrk="0" eaLnBrk="1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呼び出し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0496" y="4892040"/>
            <a:ext cx="777240" cy="2560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Tool Call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44507" y="2670048"/>
            <a:ext cx="18672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OpenAI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44507" y="3163824"/>
            <a:ext cx="1867204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gpt-5.6-luna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44507" y="5029200"/>
            <a:ext cx="1867204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ホットペッパーグルメ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4507" y="5518404"/>
            <a:ext cx="18672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グルメサーチAPI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6464808"/>
            <a:ext cx="59436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ima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6473952"/>
            <a:ext cx="329184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67" name="TextBox 35">
            <a:extLst>
              <a:ext uri="{FF2B5EF4-FFF2-40B4-BE49-F238E27FC236}">
                <a16:creationId xmlns:a16="http://schemas.microsoft.com/office/drawing/2014/main" id="{A69CA162-9C08-8435-F918-9FEB794DC5FA}"/>
              </a:ext>
            </a:extLst>
          </p:cNvPr>
          <p:cNvSpPr txBox="1"/>
          <p:nvPr/>
        </p:nvSpPr>
        <p:spPr>
          <a:xfrm>
            <a:off x="4515307" y="1728216"/>
            <a:ext cx="3810304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バックエンド・インフラ</a:t>
            </a:r>
          </a:p>
        </p:txBody>
      </p:sp>
      <p:sp>
        <p:nvSpPr>
          <p:cNvPr id="68" name="SecureStoreの役割"/>
          <p:cNvSpPr txBox="1"/>
          <p:nvPr/>
        </p:nvSpPr>
        <p:spPr>
          <a:xfrm>
            <a:off x="781812" y="5486400"/>
            <a:ext cx="2514600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端末の認証情報</a:t>
            </a:r>
          </a:p>
        </p:txBody>
      </p:sp>
      <p:sp>
        <p:nvSpPr>
          <p:cNvPr id="69" name="Durable Objectsの役割"/>
          <p:cNvSpPr txBox="1"/>
          <p:nvPr/>
        </p:nvSpPr>
        <p:spPr>
          <a:xfrm>
            <a:off x="4515307" y="5715000"/>
            <a:ext cx="3810304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ユーザーごとに状態を管理</a:t>
            </a:r>
          </a:p>
        </p:txBody>
      </p:sp>
      <p:cxnSp>
        <p:nvCxnSpPr>
          <p:cNvPr id="70" name="HTTPS request"/>
          <p:cNvCxnSpPr/>
          <p:nvPr/>
        </p:nvCxnSpPr>
        <p:spPr>
          <a:xfrm>
            <a:off x="3593592" y="3666744"/>
            <a:ext cx="612648" cy="0"/>
          </a:xfrm>
          <a:prstGeom prst="line">
            <a:avLst/>
          </a:prstGeom>
          <a:ln w="14604">
            <a:solidFill>
              <a:srgbClr val="AEAD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SE stream"/>
          <p:cNvCxnSpPr/>
          <p:nvPr/>
        </p:nvCxnSpPr>
        <p:spPr>
          <a:xfrm flipH="1">
            <a:off x="3593592" y="3995928"/>
            <a:ext cx="612648" cy="0"/>
          </a:xfrm>
          <a:prstGeom prst="line">
            <a:avLst/>
          </a:prstGeom>
          <a:ln w="14604">
            <a:solidFill>
              <a:srgbClr val="AEAD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ThreadDO to OpenAI"/>
          <p:cNvCxnSpPr/>
          <p:nvPr/>
        </p:nvCxnSpPr>
        <p:spPr>
          <a:xfrm>
            <a:off x="8622792" y="3008376"/>
            <a:ext cx="612648" cy="0"/>
          </a:xfrm>
          <a:prstGeom prst="line">
            <a:avLst/>
          </a:prstGeom>
          <a:ln w="14604">
            <a:solidFill>
              <a:srgbClr val="AEAD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Tool call to gourmet API"/>
          <p:cNvCxnSpPr/>
          <p:nvPr/>
        </p:nvCxnSpPr>
        <p:spPr>
          <a:xfrm>
            <a:off x="8622792" y="5212080"/>
            <a:ext cx="612648" cy="0"/>
          </a:xfrm>
          <a:prstGeom prst="line">
            <a:avLst/>
          </a:prstGeom>
          <a:ln w="14604">
            <a:solidFill>
              <a:srgbClr val="AEAD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penAIの役割"/>
          <p:cNvSpPr txBox="1"/>
          <p:nvPr/>
        </p:nvSpPr>
        <p:spPr>
          <a:xfrm>
            <a:off x="9544507" y="3474720"/>
            <a:ext cx="1867204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会話・提案の生成</a:t>
            </a:r>
          </a:p>
        </p:txBody>
      </p:sp>
      <p:sp>
        <p:nvSpPr>
          <p:cNvPr id="75" name="グルメサーチAPIの役割"/>
          <p:cNvSpPr txBox="1"/>
          <p:nvPr/>
        </p:nvSpPr>
        <p:spPr>
          <a:xfrm>
            <a:off x="9544507" y="5820156"/>
            <a:ext cx="1867204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店舗情報・写真の取得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3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50" y="209550"/>
            <a:ext cx="1123950" cy="1123950"/>
          </a:xfrm>
          <a:prstGeom prst="rect">
            <a:avLst/>
          </a:prstGeom>
        </p:spPr>
      </p:pic>
      <p:sp>
        <p:nvSpPr>
          <p:cNvPr id="14" name="Title"/>
          <p:cNvSpPr txBox="1"/>
          <p:nvPr/>
        </p:nvSpPr>
        <p:spPr>
          <a:xfrm>
            <a:off x="609600" y="438912"/>
            <a:ext cx="9857232" cy="5760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今後の構想：AIへの入力設計・同行者との共有・サブスク化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64808"/>
            <a:ext cx="594360" cy="210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ima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329184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6" name="会話パネル"/>
          <p:cNvSpPr/>
          <p:nvPr/>
        </p:nvSpPr>
        <p:spPr>
          <a:xfrm>
            <a:off x="609600" y="1390650"/>
            <a:ext cx="3810000" cy="49149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7" name="同行者ラベル 1"/>
          <p:cNvSpPr txBox="1"/>
          <p:nvPr/>
        </p:nvSpPr>
        <p:spPr>
          <a:xfrm>
            <a:off x="857250" y="1676400"/>
            <a:ext cx="73152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同行者</a:t>
            </a:r>
          </a:p>
        </p:txBody>
      </p:sp>
      <p:sp>
        <p:nvSpPr>
          <p:cNvPr id="38" name="同行者の吹き出し 1"/>
          <p:cNvSpPr/>
          <p:nvPr/>
        </p:nvSpPr>
        <p:spPr>
          <a:xfrm>
            <a:off x="857250" y="1924050"/>
            <a:ext cx="1518285" cy="53340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同行者の発言 1"/>
          <p:cNvSpPr txBox="1"/>
          <p:nvPr/>
        </p:nvSpPr>
        <p:spPr>
          <a:xfrm>
            <a:off x="1005840" y="2009775"/>
            <a:ext cx="1426845" cy="3105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次どこ行く？</a:t>
            </a:r>
          </a:p>
        </p:txBody>
      </p:sp>
      <p:sp>
        <p:nvSpPr>
          <p:cNvPr id="40" name="吹き出しの尾 1a"/>
          <p:cNvSpPr/>
          <p:nvPr/>
        </p:nvSpPr>
        <p:spPr>
          <a:xfrm>
            <a:off x="990600" y="2457450"/>
            <a:ext cx="114300" cy="9525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1" name="吹き出しの尾 1b"/>
          <p:cNvSpPr/>
          <p:nvPr/>
        </p:nvSpPr>
        <p:spPr>
          <a:xfrm>
            <a:off x="923925" y="2552700"/>
            <a:ext cx="66675" cy="66675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2" name="探す役ラベル"/>
          <p:cNvSpPr txBox="1"/>
          <p:nvPr/>
        </p:nvSpPr>
        <p:spPr>
          <a:xfrm>
            <a:off x="3474720" y="2743200"/>
            <a:ext cx="695325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探す役</a:t>
            </a:r>
          </a:p>
        </p:txBody>
      </p:sp>
      <p:sp>
        <p:nvSpPr>
          <p:cNvPr id="43" name="共有した提案カード"/>
          <p:cNvSpPr/>
          <p:nvPr/>
        </p:nvSpPr>
        <p:spPr>
          <a:xfrm>
            <a:off x="1409700" y="2990850"/>
            <a:ext cx="2762250" cy="13525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4" name="共有カードの見出し"/>
          <p:cNvSpPr txBox="1"/>
          <p:nvPr/>
        </p:nvSpPr>
        <p:spPr>
          <a:xfrm>
            <a:off x="1562100" y="3124200"/>
            <a:ext cx="1905000" cy="2095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ima の提案を共有</a:t>
            </a:r>
          </a:p>
        </p:txBody>
      </p:sp>
      <p:cxnSp>
        <p:nvCxnSpPr>
          <p:cNvPr id="45" name="共有カードの区切り 1"/>
          <p:cNvCxnSpPr/>
          <p:nvPr/>
        </p:nvCxnSpPr>
        <p:spPr>
          <a:xfrm>
            <a:off x="1562100" y="3371850"/>
            <a:ext cx="2457450" cy="0"/>
          </a:xfrm>
          <a:prstGeom prst="line">
            <a:avLst/>
          </a:prstGeom>
          <a:ln w="9525">
            <a:solidFill>
              <a:srgbClr val="C9C3B4"/>
            </a:solidFill>
          </a:ln>
        </p:spPr>
      </p:cxnSp>
      <p:sp>
        <p:nvSpPr>
          <p:cNvPr id="46" name="共有カードの区分 1"/>
          <p:cNvSpPr txBox="1"/>
          <p:nvPr/>
        </p:nvSpPr>
        <p:spPr>
          <a:xfrm>
            <a:off x="1562100" y="343852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主提案</a:t>
            </a:r>
          </a:p>
        </p:txBody>
      </p:sp>
      <p:sp>
        <p:nvSpPr>
          <p:cNvPr id="47" name="共有カードの候補 1"/>
          <p:cNvSpPr txBox="1"/>
          <p:nvPr/>
        </p:nvSpPr>
        <p:spPr>
          <a:xfrm>
            <a:off x="2209800" y="3429000"/>
            <a:ext cx="17145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55534D"/>
                </a:solidFill>
                <a:latin typeface="Yu Gothic"/>
                <a:ea typeface="Yu Gothic"/>
                <a:cs typeface="Yu Gothic"/>
              </a:rPr>
              <a:t>条件に合う候補</a:t>
            </a:r>
          </a:p>
        </p:txBody>
      </p:sp>
      <p:cxnSp>
        <p:nvCxnSpPr>
          <p:cNvPr id="48" name="共有カードの区切り 2"/>
          <p:cNvCxnSpPr/>
          <p:nvPr/>
        </p:nvCxnSpPr>
        <p:spPr>
          <a:xfrm>
            <a:off x="1562100" y="3667125"/>
            <a:ext cx="2457450" cy="0"/>
          </a:xfrm>
          <a:prstGeom prst="line">
            <a:avLst/>
          </a:prstGeom>
          <a:ln w="9525">
            <a:solidFill>
              <a:srgbClr val="C9C3B4"/>
            </a:solidFill>
          </a:ln>
        </p:spPr>
      </p:cxnSp>
      <p:sp>
        <p:nvSpPr>
          <p:cNvPr id="49" name="共有カードの区分 2"/>
          <p:cNvSpPr txBox="1"/>
          <p:nvPr/>
        </p:nvSpPr>
        <p:spPr>
          <a:xfrm>
            <a:off x="1562100" y="3733800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別案</a:t>
            </a:r>
          </a:p>
        </p:txBody>
      </p:sp>
      <p:sp>
        <p:nvSpPr>
          <p:cNvPr id="50" name="共有カードの候補 2"/>
          <p:cNvSpPr txBox="1"/>
          <p:nvPr/>
        </p:nvSpPr>
        <p:spPr>
          <a:xfrm>
            <a:off x="2209800" y="3724275"/>
            <a:ext cx="17145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55534D"/>
                </a:solidFill>
                <a:latin typeface="Yu Gothic"/>
                <a:ea typeface="Yu Gothic"/>
                <a:cs typeface="Yu Gothic"/>
              </a:rPr>
              <a:t>比較する候補 1</a:t>
            </a:r>
          </a:p>
        </p:txBody>
      </p:sp>
      <p:cxnSp>
        <p:nvCxnSpPr>
          <p:cNvPr id="51" name="共有カードの区切り 3"/>
          <p:cNvCxnSpPr/>
          <p:nvPr/>
        </p:nvCxnSpPr>
        <p:spPr>
          <a:xfrm>
            <a:off x="1562100" y="3962400"/>
            <a:ext cx="2457450" cy="0"/>
          </a:xfrm>
          <a:prstGeom prst="line">
            <a:avLst/>
          </a:prstGeom>
          <a:ln w="9525">
            <a:solidFill>
              <a:srgbClr val="C9C3B4"/>
            </a:solidFill>
          </a:ln>
        </p:spPr>
      </p:cxnSp>
      <p:sp>
        <p:nvSpPr>
          <p:cNvPr id="52" name="共有カードの区分 3"/>
          <p:cNvSpPr txBox="1"/>
          <p:nvPr/>
        </p:nvSpPr>
        <p:spPr>
          <a:xfrm>
            <a:off x="1562100" y="40290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別案</a:t>
            </a:r>
          </a:p>
        </p:txBody>
      </p:sp>
      <p:sp>
        <p:nvSpPr>
          <p:cNvPr id="53" name="共有カードの候補 3"/>
          <p:cNvSpPr txBox="1"/>
          <p:nvPr/>
        </p:nvSpPr>
        <p:spPr>
          <a:xfrm>
            <a:off x="2209800" y="4019550"/>
            <a:ext cx="17145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58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ja-JP" altLang="en-US">
                <a:solidFill>
                  <a:srgbClr val="55534D"/>
                </a:solidFill>
                <a:latin typeface="Yu Gothic"/>
                <a:ea typeface="Yu Gothic"/>
                <a:cs typeface="Yu Gothic"/>
              </a:rPr>
              <a:t>比較する候補 2</a:t>
            </a:r>
          </a:p>
        </p:txBody>
      </p:sp>
      <p:sp>
        <p:nvSpPr>
          <p:cNvPr id="54" name="吹き出しの尾 2a"/>
          <p:cNvSpPr/>
          <p:nvPr/>
        </p:nvSpPr>
        <p:spPr>
          <a:xfrm>
            <a:off x="3924300" y="4343400"/>
            <a:ext cx="114300" cy="9525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吹き出しの尾 2b"/>
          <p:cNvSpPr/>
          <p:nvPr/>
        </p:nvSpPr>
        <p:spPr>
          <a:xfrm>
            <a:off x="4038600" y="4438650"/>
            <a:ext cx="66675" cy="66675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同行者ラベル 2"/>
          <p:cNvSpPr txBox="1"/>
          <p:nvPr/>
        </p:nvSpPr>
        <p:spPr>
          <a:xfrm>
            <a:off x="857250" y="4667250"/>
            <a:ext cx="73152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同行者</a:t>
            </a:r>
          </a:p>
        </p:txBody>
      </p:sp>
      <p:sp>
        <p:nvSpPr>
          <p:cNvPr id="57" name="同行者の吹き出し 2"/>
          <p:cNvSpPr/>
          <p:nvPr/>
        </p:nvSpPr>
        <p:spPr>
          <a:xfrm>
            <a:off x="857250" y="4914900"/>
            <a:ext cx="1962150" cy="53340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同行者の発言 2"/>
          <p:cNvSpPr txBox="1"/>
          <p:nvPr/>
        </p:nvSpPr>
        <p:spPr>
          <a:xfrm>
            <a:off x="1005840" y="5000625"/>
            <a:ext cx="1771650" cy="31051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1件目、行きたい！</a:t>
            </a:r>
          </a:p>
        </p:txBody>
      </p:sp>
      <p:sp>
        <p:nvSpPr>
          <p:cNvPr id="59" name="吹き出しの尾 3a"/>
          <p:cNvSpPr/>
          <p:nvPr/>
        </p:nvSpPr>
        <p:spPr>
          <a:xfrm>
            <a:off x="990600" y="5448300"/>
            <a:ext cx="114300" cy="95250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吹き出しの尾 3b"/>
          <p:cNvSpPr/>
          <p:nvPr/>
        </p:nvSpPr>
        <p:spPr>
          <a:xfrm>
            <a:off x="923925" y="5543550"/>
            <a:ext cx="66675" cy="66675"/>
          </a:xfrm>
          <a:prstGeom prst="rect">
            <a:avLst/>
          </a:prstGeom>
          <a:solidFill>
            <a:srgbClr val="0C0C0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会話の注記"/>
          <p:cNvSpPr txBox="1"/>
          <p:nvPr/>
        </p:nvSpPr>
        <p:spPr>
          <a:xfrm>
            <a:off x="857250" y="5924550"/>
            <a:ext cx="3352800" cy="20097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ja-JP" altLang="en-US">
                <a:solidFill>
                  <a:srgbClr val="9A9993"/>
                </a:solidFill>
                <a:latin typeface="Yu Gothic"/>
                <a:ea typeface="Yu Gothic"/>
                <a:cs typeface="Yu Gothic"/>
              </a:rPr>
              <a:t>※会話は説明用の例です。</a:t>
            </a:r>
          </a:p>
        </p:txBody>
      </p:sp>
      <p:sp>
        <p:nvSpPr>
          <p:cNvPr id="62" name="構想 1 の区分"/>
          <p:cNvSpPr txBox="1"/>
          <p:nvPr/>
        </p:nvSpPr>
        <p:spPr>
          <a:xfrm>
            <a:off x="5788342" y="1676400"/>
            <a:ext cx="578834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AIへの入力設計</a:t>
            </a:r>
          </a:p>
        </p:txBody>
      </p:sp>
      <p:sp>
        <p:nvSpPr>
          <p:cNvPr id="63" name="構想 1 の番号札"/>
          <p:cNvSpPr/>
          <p:nvPr/>
        </p:nvSpPr>
        <p:spPr>
          <a:xfrm>
            <a:off x="5102542" y="1962150"/>
            <a:ext cx="439102" cy="439102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構想 1 の番号"/>
          <p:cNvSpPr txBox="1"/>
          <p:nvPr/>
        </p:nvSpPr>
        <p:spPr>
          <a:xfrm>
            <a:off x="5102542" y="1957388"/>
            <a:ext cx="439102" cy="4476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5" name="構想 1 の見出し"/>
          <p:cNvSpPr txBox="1"/>
          <p:nvPr/>
        </p:nvSpPr>
        <p:spPr>
          <a:xfrm>
            <a:off x="5788342" y="1924050"/>
            <a:ext cx="5788342" cy="4210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言葉にしなくても、伝わる</a:t>
            </a:r>
          </a:p>
        </p:txBody>
      </p:sp>
      <p:sp>
        <p:nvSpPr>
          <p:cNvPr id="66" name="構想 1 の説明"/>
          <p:cNvSpPr txBox="1"/>
          <p:nvPr/>
        </p:nvSpPr>
        <p:spPr>
          <a:xfrm>
            <a:off x="5788342" y="2386012"/>
            <a:ext cx="5788342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好みや同行者をふまえ、「どこでもいいよ」の一言からでも提案する</a:t>
            </a:r>
          </a:p>
        </p:txBody>
      </p:sp>
      <p:cxnSp>
        <p:nvCxnSpPr>
          <p:cNvPr id="67" name="構想の区切り 1"/>
          <p:cNvCxnSpPr/>
          <p:nvPr/>
        </p:nvCxnSpPr>
        <p:spPr>
          <a:xfrm>
            <a:off x="5102542" y="2781300"/>
            <a:ext cx="6480810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68" name="構想 2 の区分"/>
          <p:cNvSpPr txBox="1"/>
          <p:nvPr/>
        </p:nvSpPr>
        <p:spPr>
          <a:xfrm>
            <a:off x="5788342" y="2933700"/>
            <a:ext cx="578834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共有</a:t>
            </a:r>
          </a:p>
        </p:txBody>
      </p:sp>
      <p:sp>
        <p:nvSpPr>
          <p:cNvPr id="69" name="構想 2 の番号札"/>
          <p:cNvSpPr/>
          <p:nvPr/>
        </p:nvSpPr>
        <p:spPr>
          <a:xfrm>
            <a:off x="5102542" y="3219450"/>
            <a:ext cx="439102" cy="439102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構想 2 の番号"/>
          <p:cNvSpPr txBox="1"/>
          <p:nvPr/>
        </p:nvSpPr>
        <p:spPr>
          <a:xfrm>
            <a:off x="5102542" y="3214688"/>
            <a:ext cx="439102" cy="4476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1" name="構想 2 の見出し"/>
          <p:cNvSpPr txBox="1"/>
          <p:nvPr/>
        </p:nvSpPr>
        <p:spPr>
          <a:xfrm>
            <a:off x="5788342" y="3181350"/>
            <a:ext cx="5788342" cy="4210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同行者と、そのまま決められる</a:t>
            </a:r>
          </a:p>
        </p:txBody>
      </p:sp>
      <p:sp>
        <p:nvSpPr>
          <p:cNvPr id="72" name="構想 2 の説明"/>
          <p:cNvSpPr txBox="1"/>
          <p:nvPr/>
        </p:nvSpPr>
        <p:spPr>
          <a:xfrm>
            <a:off x="5788342" y="3643312"/>
            <a:ext cx="5788342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候補をほかのアプリへ送り、同行者の「行きたい」を集めて決める</a:t>
            </a:r>
          </a:p>
        </p:txBody>
      </p:sp>
      <p:cxnSp>
        <p:nvCxnSpPr>
          <p:cNvPr id="73" name="構想の区切り 2"/>
          <p:cNvCxnSpPr/>
          <p:nvPr/>
        </p:nvCxnSpPr>
        <p:spPr>
          <a:xfrm>
            <a:off x="5102542" y="4038600"/>
            <a:ext cx="6480810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74" name="構想 3 の区分"/>
          <p:cNvSpPr txBox="1"/>
          <p:nvPr/>
        </p:nvSpPr>
        <p:spPr>
          <a:xfrm>
            <a:off x="5788342" y="4191000"/>
            <a:ext cx="578834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 eaLnBrk="1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サブスク</a:t>
            </a:r>
          </a:p>
        </p:txBody>
      </p:sp>
      <p:sp>
        <p:nvSpPr>
          <p:cNvPr id="75" name="構想 3 の番号札"/>
          <p:cNvSpPr/>
          <p:nvPr/>
        </p:nvSpPr>
        <p:spPr>
          <a:xfrm>
            <a:off x="5102542" y="4476750"/>
            <a:ext cx="439102" cy="439102"/>
          </a:xfrm>
          <a:prstGeom prst="rect">
            <a:avLst/>
          </a:prstGeom>
          <a:solidFill>
            <a:srgbClr val="B7C97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6" name="構想 3 の番号"/>
          <p:cNvSpPr txBox="1"/>
          <p:nvPr/>
        </p:nvSpPr>
        <p:spPr>
          <a:xfrm>
            <a:off x="5102542" y="4471988"/>
            <a:ext cx="439102" cy="4476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 latinLnBrk="0" eaLnBrk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ja-JP" altLang="en-US">
                <a:solidFill>
                  <a:srgbClr val="16161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7" name="構想 3 の見出し"/>
          <p:cNvSpPr txBox="1"/>
          <p:nvPr/>
        </p:nvSpPr>
        <p:spPr>
          <a:xfrm>
            <a:off x="5788342" y="4438650"/>
            <a:ext cx="5788342" cy="4210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ja-JP" altLang="en-US">
                <a:solidFill>
                  <a:srgbClr val="ECEBE6"/>
                </a:solidFill>
                <a:latin typeface="Yu Gothic"/>
                <a:ea typeface="Yu Gothic"/>
                <a:cs typeface="Yu Gothic"/>
              </a:rPr>
              <a:t>使うほど、自分に合う</a:t>
            </a:r>
          </a:p>
        </p:txBody>
      </p:sp>
      <p:sp>
        <p:nvSpPr>
          <p:cNvPr id="78" name="構想 3 の説明"/>
          <p:cNvSpPr txBox="1"/>
          <p:nvPr/>
        </p:nvSpPr>
        <p:spPr>
          <a:xfrm>
            <a:off x="5788342" y="4900612"/>
            <a:ext cx="5788342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186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ja-JP" altLang="en-US">
                <a:solidFill>
                  <a:srgbClr val="AEADA7"/>
                </a:solidFill>
                <a:latin typeface="Yu Gothic"/>
                <a:ea typeface="Yu Gothic"/>
                <a:cs typeface="Yu Gothic"/>
              </a:rPr>
              <a:t>共有は無料で広げ、好みに合わせた提案を有料プランで届ける</a:t>
            </a:r>
          </a:p>
        </p:txBody>
      </p:sp>
      <p:cxnSp>
        <p:nvCxnSpPr>
          <p:cNvPr id="79" name="結びの区切り"/>
          <p:cNvCxnSpPr/>
          <p:nvPr/>
        </p:nvCxnSpPr>
        <p:spPr>
          <a:xfrm>
            <a:off x="5102542" y="5410200"/>
            <a:ext cx="6480810" cy="0"/>
          </a:xfrm>
          <a:prstGeom prst="line">
            <a:avLst/>
          </a:prstGeom>
          <a:ln w="9525">
            <a:solidFill>
              <a:srgbClr val="2A2A2E"/>
            </a:solidFill>
          </a:ln>
        </p:spPr>
      </p:cxnSp>
      <p:sp>
        <p:nvSpPr>
          <p:cNvPr id="80" name="結びの一文"/>
          <p:cNvSpPr txBox="1"/>
          <p:nvPr/>
        </p:nvSpPr>
        <p:spPr>
          <a:xfrm>
            <a:off x="5102542" y="5600700"/>
            <a:ext cx="648081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latinLnBrk="0" eaLnBrk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ja-JP" altLang="en-US">
                <a:solidFill>
                  <a:srgbClr val="B7C97A"/>
                </a:solidFill>
                <a:latin typeface="Yu Gothic"/>
                <a:ea typeface="Yu Gothic"/>
                <a:cs typeface="Yu Gothic"/>
              </a:rPr>
              <a:t>「次どこ行く？」に、もう誰も困らない。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Yu Gothic"/>
        <a:cs typeface="Yu Gothic"/>
        <a:font script="Jpan" typeface="Yu Gothic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Yu Gothic"/>
        <a:cs typeface="Yu Gothic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343</Words>
  <Application>Microsoft Macintosh PowerPoint</Application>
  <PresentationFormat>ワイド画面</PresentationFormat>
  <Paragraphs>169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ima｜プロダクト紹介</dc:title>
  <dc:subject>原資料の構成とデザインを維持した校正・体裁調整版</dc:subject>
  <dc:creator/>
  <cp:keywords/>
  <dc:description>全8枚。技術仕様の外部検証は未実施。変更内容と公開前の確認事項は各スライドのノートに記載。</dc:description>
  <cp:lastModifiedBy>OpenAI</cp:lastModifiedBy>
  <cp:revision>14</cp:revision>
  <dcterms:created xsi:type="dcterms:W3CDTF">2013-01-27T09:14:16Z</dcterms:created>
  <dcterms:modified xsi:type="dcterms:W3CDTF">2026-10-11T04:30:10Z</dcterms:modified>
  <cp:category/>
</cp:coreProperties>
</file>