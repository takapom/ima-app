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2"/>
    <p:sldId id="257" r:id="rId3"/>
    <p:sldId id="266" r:id="rId4"/>
    <p:sldId id="265" r:id="rId5"/>
    <p:sldId id="260" r:id="rId6"/>
    <p:sldId id="261" r:id="rId7"/>
    <p:sldId id="262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4"/>
    <p:restoredTop sz="94682"/>
  </p:normalViewPr>
  <p:slideViewPr>
    <p:cSldViewPr snapToGrid="0" snapToObjects="1">
      <p:cViewPr varScale="1">
        <p:scale>
          <a:sx n="123" d="100"/>
          <a:sy n="123" d="100"/>
        </p:scale>
        <p:origin x="224" y="2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5" Type="http://schemas.openxmlformats.org/officeDocument/2006/relationships/image" Target="../media/image2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81901" y="533400"/>
            <a:ext cx="1676549" cy="4000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58450" y="742950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572750" y="82867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7" name="Picture 6" descr="img_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962025"/>
            <a:ext cx="2095500" cy="1329035"/>
          </a:xfrm>
          <a:prstGeom prst="rect">
            <a:avLst/>
          </a:prstGeom>
        </p:spPr>
      </p:pic>
      <p:pic>
        <p:nvPicPr>
          <p:cNvPr id="14" name="Picture 13" descr="img_1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6254" y="1047750"/>
            <a:ext cx="2342618" cy="52197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34301" y="619125"/>
            <a:ext cx="1445669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いっしょに探すわん</a:t>
            </a:r>
          </a:p>
        </p:txBody>
      </p:sp>
      <p:sp>
        <p:nvSpPr>
          <p:cNvPr id="17" name="Title"/>
          <p:cNvSpPr txBox="1"/>
          <p:nvPr/>
        </p:nvSpPr>
        <p:spPr>
          <a:xfrm>
            <a:off x="609600" y="2491085"/>
            <a:ext cx="6557010" cy="103048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990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大切な人との「次どこ行く</a:t>
            </a:r>
            <a:r>
              <a:rPr sz="2850" b="1" i="0" dirty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？」</a:t>
            </a:r>
            <a:r>
              <a:rPr sz="285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を</a:t>
            </a:r>
            <a:r>
              <a:rPr sz="2850" b="1" i="0" dirty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、</a:t>
            </a:r>
          </a:p>
          <a:p>
            <a:pPr algn="l">
              <a:lnSpc>
                <a:spcPts val="3990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</a:t>
            </a:r>
            <a:r>
              <a:rPr sz="2850" b="1" i="0" dirty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 </a:t>
            </a:r>
            <a:r>
              <a:rPr sz="285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に聞いて決める</a:t>
            </a:r>
            <a:endParaRPr sz="285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36EC049C-7FD9-79CD-0C25-3AAEF690F1CF}"/>
              </a:ext>
            </a:extLst>
          </p:cNvPr>
          <p:cNvSpPr txBox="1"/>
          <p:nvPr/>
        </p:nvSpPr>
        <p:spPr>
          <a:xfrm>
            <a:off x="552450" y="3922704"/>
            <a:ext cx="22172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chemeClr val="bg1"/>
                </a:solidFill>
              </a:rPr>
              <a:t>開発者：</a:t>
            </a:r>
            <a:endParaRPr kumimoji="1" lang="en-US" altLang="ja-JP" dirty="0">
              <a:solidFill>
                <a:schemeClr val="bg1"/>
              </a:solidFill>
            </a:endParaRPr>
          </a:p>
          <a:p>
            <a:r>
              <a:rPr kumimoji="1" lang="ja-JP" altLang="en-US">
                <a:solidFill>
                  <a:schemeClr val="bg1"/>
                </a:solidFill>
              </a:rPr>
              <a:t>フロントエンド：</a:t>
            </a:r>
            <a:endParaRPr kumimoji="1" lang="en-US" altLang="ja-JP" dirty="0">
              <a:solidFill>
                <a:schemeClr val="bg1"/>
              </a:solidFill>
            </a:endParaRPr>
          </a:p>
          <a:p>
            <a:r>
              <a:rPr kumimoji="1" lang="ja-JP" altLang="en-US">
                <a:solidFill>
                  <a:schemeClr val="bg1"/>
                </a:solidFill>
              </a:rPr>
              <a:t>バックエンド・インフラ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390650"/>
            <a:ext cx="3810000" cy="49149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57250" y="2238375"/>
            <a:ext cx="1480245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7250" y="2828925"/>
            <a:ext cx="1663154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90600" y="3362325"/>
            <a:ext cx="114300" cy="9525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23925" y="3457575"/>
            <a:ext cx="66675" cy="666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379190" y="4000500"/>
            <a:ext cx="2792760" cy="53340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924300" y="4533900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38600" y="4629150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57250" y="5172075"/>
            <a:ext cx="3314700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90600" y="5705475"/>
            <a:ext cx="114300" cy="9525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3925" y="5800725"/>
            <a:ext cx="66675" cy="666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05400" y="2487811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5105400" y="3277493"/>
            <a:ext cx="6477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5105400" y="3628876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5105400" y="4418558"/>
            <a:ext cx="6477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5105400" y="4769941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Title"/>
          <p:cNvSpPr txBox="1"/>
          <p:nvPr/>
        </p:nvSpPr>
        <p:spPr>
          <a:xfrm>
            <a:off x="609600" y="428625"/>
            <a:ext cx="9690556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外出中の「次どこ行く？」は、探す役の1人が背負って決めきれない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1990725"/>
            <a:ext cx="40553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" y="2362200"/>
            <a:ext cx="1201888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次どこ行く？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" y="2952750"/>
            <a:ext cx="1392114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どこでもいいよ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0326" y="3752850"/>
            <a:ext cx="40553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0640" y="4124325"/>
            <a:ext cx="2566904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ちょっと待って、調べてみる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924425"/>
            <a:ext cx="40553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" y="5295900"/>
            <a:ext cx="160401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まだ決まらない？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4823" y="2535436"/>
            <a:ext cx="163925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86450" y="2350740"/>
            <a:ext cx="2956489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探す負担が1人に集まる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6450" y="2786955"/>
            <a:ext cx="4921746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「どこでもいいよ」と任され、1人で地図と検索を行き来する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4823" y="3676501"/>
            <a:ext cx="163925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86450" y="3491805"/>
            <a:ext cx="3339263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候補が多くて決めきれない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6450" y="3928021"/>
            <a:ext cx="3399782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検索結果を比べているうちに時間が過ぎる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4823" y="4817566"/>
            <a:ext cx="163925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86450" y="4632871"/>
            <a:ext cx="3064681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選んだ理由を伝えにくい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86450" y="5069086"/>
            <a:ext cx="3225034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「なぜここか」を同行者に説明しにくい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2537072"/>
            <a:ext cx="33528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151310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2171700" y="2675185"/>
            <a:ext cx="228600" cy="142875"/>
          </a:xfrm>
          <a:custGeom>
            <a:avLst/>
            <a:gdLst/>
            <a:ahLst/>
            <a:cxnLst/>
            <a:rect l="l" t="t" r="r" b="b"/>
            <a:pathLst>
              <a:path w="228600" h="142875">
                <a:moveTo>
                  <a:pt x="0" y="0"/>
                </a:moveTo>
                <a:lnTo>
                  <a:pt x="228600" y="0"/>
                </a:lnTo>
                <a:lnTo>
                  <a:pt x="114300" y="142875"/>
                </a:lnTo>
                <a:close/>
              </a:path>
            </a:pathLst>
          </a:cu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3865214"/>
            <a:ext cx="2217688" cy="73342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79638" y="459863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93938" y="469388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4419600" y="2537072"/>
            <a:ext cx="33528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4419600" y="2151310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5981700" y="2675185"/>
            <a:ext cx="228600" cy="142875"/>
          </a:xfrm>
          <a:custGeom>
            <a:avLst/>
            <a:gdLst/>
            <a:ahLst/>
            <a:cxnLst/>
            <a:rect l="l" t="t" r="r" b="b"/>
            <a:pathLst>
              <a:path w="228600" h="142875">
                <a:moveTo>
                  <a:pt x="0" y="0"/>
                </a:moveTo>
                <a:lnTo>
                  <a:pt x="228600" y="0"/>
                </a:lnTo>
                <a:lnTo>
                  <a:pt x="114300" y="142875"/>
                </a:lnTo>
                <a:close/>
              </a:path>
            </a:pathLst>
          </a:cu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19600" y="35842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19600" y="40414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9600" y="44986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37072"/>
            <a:ext cx="33528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8229600" y="2151310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7" name="Freeform 16"/>
          <p:cNvSpPr/>
          <p:nvPr/>
        </p:nvSpPr>
        <p:spPr>
          <a:xfrm>
            <a:off x="9791700" y="2675185"/>
            <a:ext cx="228600" cy="142875"/>
          </a:xfrm>
          <a:custGeom>
            <a:avLst/>
            <a:gdLst/>
            <a:ahLst/>
            <a:cxnLst/>
            <a:rect l="l" t="t" r="r" b="b"/>
            <a:pathLst>
              <a:path w="228600" h="142875">
                <a:moveTo>
                  <a:pt x="0" y="0"/>
                </a:moveTo>
                <a:lnTo>
                  <a:pt x="228600" y="0"/>
                </a:lnTo>
                <a:lnTo>
                  <a:pt x="114300" y="142875"/>
                </a:lnTo>
                <a:close/>
              </a:path>
            </a:pathLst>
          </a:cu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38128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0" y="42700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0" name="Title"/>
          <p:cNvSpPr txBox="1"/>
          <p:nvPr/>
        </p:nvSpPr>
        <p:spPr>
          <a:xfrm>
            <a:off x="609600" y="766763"/>
            <a:ext cx="9099756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</a:t>
            </a:r>
            <a:r>
              <a:rPr sz="2400" b="1" i="0" dirty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 なら、希望を伝えるだけで3件以内の候補が理由付きで届く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550" y="2151310"/>
            <a:ext cx="1907381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探す負担が1人に集まる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818" y="2175122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932360"/>
            <a:ext cx="2792730" cy="3714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33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探すのは ima に任せる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050" y="3989039"/>
            <a:ext cx="1968829" cy="4810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146327"/>
            <a:ext cx="3505962" cy="48904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状況をそのまま書くか、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5つの質問にタップで答えるだけ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1550" y="2151310"/>
            <a:ext cx="2153483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候補が多くて決めきれない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9818" y="2175122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9600" y="2932360"/>
            <a:ext cx="2843189" cy="3714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33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3件以内に絞って届ける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2950" y="3679477"/>
            <a:ext cx="43510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1600" y="3679477"/>
            <a:ext cx="126720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同じ大きさのカード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2950" y="4136677"/>
            <a:ext cx="29641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1600" y="4136677"/>
            <a:ext cx="126720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同じ大きさのカード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2950" y="4593877"/>
            <a:ext cx="29641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81600" y="4593877"/>
            <a:ext cx="126720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同じ大きさのカード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9600" y="5146327"/>
            <a:ext cx="3505962" cy="48904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主提案1件と別案最大2件だけを、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比べやすく並べる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1550" y="2151310"/>
            <a:ext cx="1976878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選んだ理由を伝えにくい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9818" y="2175122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2932360"/>
            <a:ext cx="2418314" cy="3714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33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選んだ理由を添える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2950" y="3908077"/>
            <a:ext cx="43510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91600" y="3908077"/>
            <a:ext cx="1955209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定食があり、予算目安が条件内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2950" y="4365277"/>
            <a:ext cx="29641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91600" y="4365277"/>
            <a:ext cx="195103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個室があり、落ち着いて話せる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46327"/>
            <a:ext cx="3505962" cy="48904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重視した希望と合う店舗情報を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短く添え、そのまま同行者に見せられる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B03E02-AB74-598A-507A-504FFF02D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5_11.png">
            <a:extLst>
              <a:ext uri="{FF2B5EF4-FFF2-40B4-BE49-F238E27FC236}">
                <a16:creationId xmlns:a16="http://schemas.microsoft.com/office/drawing/2014/main" id="{0B5D8F49-B00F-B19D-434F-D00346C8E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971DB46-42C7-FFB9-B6AD-A91D7C9AD838}"/>
              </a:ext>
            </a:extLst>
          </p:cNvPr>
          <p:cNvSpPr/>
          <p:nvPr/>
        </p:nvSpPr>
        <p:spPr>
          <a:xfrm>
            <a:off x="609600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D4AA7E-D4F9-DC5F-C93E-0859C5DA0CDD}"/>
              </a:ext>
            </a:extLst>
          </p:cNvPr>
          <p:cNvSpPr/>
          <p:nvPr/>
        </p:nvSpPr>
        <p:spPr>
          <a:xfrm>
            <a:off x="3438525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E4497-4A17-725E-9B56-6745F93B8E7E}"/>
              </a:ext>
            </a:extLst>
          </p:cNvPr>
          <p:cNvSpPr/>
          <p:nvPr/>
        </p:nvSpPr>
        <p:spPr>
          <a:xfrm>
            <a:off x="6267450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19F858-CE09-5404-61D3-65FF2EDB6EBD}"/>
              </a:ext>
            </a:extLst>
          </p:cNvPr>
          <p:cNvSpPr/>
          <p:nvPr/>
        </p:nvSpPr>
        <p:spPr>
          <a:xfrm>
            <a:off x="9096375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78CA18E7-7728-77D6-C015-ECDA4A07B03C}"/>
              </a:ext>
            </a:extLst>
          </p:cNvPr>
          <p:cNvSpPr txBox="1"/>
          <p:nvPr/>
        </p:nvSpPr>
        <p:spPr>
          <a:xfrm>
            <a:off x="569655" y="552450"/>
            <a:ext cx="7915370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40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起動から店舗詳細まで、画面は会話の流れに沿って進む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rgbClr val="ECEBE6"/>
              </a:solidFill>
              <a:effectLst/>
              <a:uLnTx/>
              <a:uFillTx/>
              <a:latin typeface="Yu Gothic"/>
              <a:ea typeface="Yu Gothic"/>
              <a:cs typeface="Yu 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01B37-252C-D129-CC51-CA03AD63AAE9}"/>
              </a:ext>
            </a:extLst>
          </p:cNvPr>
          <p:cNvSpPr txBox="1"/>
          <p:nvPr/>
        </p:nvSpPr>
        <p:spPr>
          <a:xfrm>
            <a:off x="693420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起動画面の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A574C9-2FCA-1FDD-C5F6-BFA91835592B}"/>
              </a:ext>
            </a:extLst>
          </p:cNvPr>
          <p:cNvSpPr txBox="1"/>
          <p:nvPr/>
        </p:nvSpPr>
        <p:spPr>
          <a:xfrm>
            <a:off x="1109394" y="5362133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起動画面</a:t>
            </a:r>
            <a:endParaRPr kumimoji="0" sz="1400" b="1" i="0" u="none" strike="noStrike" kern="1200" cap="none" spc="0" normalizeH="0" baseline="0" noProof="0" dirty="0">
              <a:ln>
                <a:noFill/>
              </a:ln>
              <a:solidFill>
                <a:srgbClr val="ECEBE6"/>
              </a:solidFill>
              <a:effectLst/>
              <a:uLnTx/>
              <a:uFillTx/>
              <a:latin typeface="Yu Gothic"/>
              <a:ea typeface="Yu Gothic"/>
              <a:cs typeface="Yu Gothic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0EAA2A-F205-4AAE-44FB-607158BE6B80}"/>
              </a:ext>
            </a:extLst>
          </p:cNvPr>
          <p:cNvSpPr txBox="1"/>
          <p:nvPr/>
        </p:nvSpPr>
        <p:spPr>
          <a:xfrm>
            <a:off x="3522345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質問画面の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CF801F-B157-FC77-C8F1-29311C81CCC9}"/>
              </a:ext>
            </a:extLst>
          </p:cNvPr>
          <p:cNvSpPr txBox="1"/>
          <p:nvPr/>
        </p:nvSpPr>
        <p:spPr>
          <a:xfrm>
            <a:off x="4030807" y="5338762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質問画面</a:t>
            </a:r>
            <a:endParaRPr kumimoji="0" sz="1400" b="1" i="0" u="none" strike="noStrike" kern="1200" cap="none" spc="0" normalizeH="0" baseline="0" noProof="0" dirty="0">
              <a:ln>
                <a:noFill/>
              </a:ln>
              <a:solidFill>
                <a:srgbClr val="ECEBE6"/>
              </a:solidFill>
              <a:effectLst/>
              <a:uLnTx/>
              <a:uFillTx/>
              <a:latin typeface="Yu Gothic"/>
              <a:ea typeface="Yu Gothic"/>
              <a:cs typeface="Yu Gothic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CA170C-C6B5-5386-2977-A075B46A7A75}"/>
              </a:ext>
            </a:extLst>
          </p:cNvPr>
          <p:cNvSpPr txBox="1"/>
          <p:nvPr/>
        </p:nvSpPr>
        <p:spPr>
          <a:xfrm>
            <a:off x="6351270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候補カードが並んだ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会話のスクリーンショット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589FC9-6D02-364A-829C-5B5E0B58C543}"/>
              </a:ext>
            </a:extLst>
          </p:cNvPr>
          <p:cNvSpPr txBox="1"/>
          <p:nvPr/>
        </p:nvSpPr>
        <p:spPr>
          <a:xfrm>
            <a:off x="6514183" y="5359959"/>
            <a:ext cx="1524917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BF13D0-DD2E-3C48-5388-937E78AD9035}"/>
              </a:ext>
            </a:extLst>
          </p:cNvPr>
          <p:cNvSpPr txBox="1"/>
          <p:nvPr/>
        </p:nvSpPr>
        <p:spPr>
          <a:xfrm>
            <a:off x="9180195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店舗詳細の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B44272-9B19-2C4B-6EE4-5584DEA550AC}"/>
              </a:ext>
            </a:extLst>
          </p:cNvPr>
          <p:cNvSpPr txBox="1"/>
          <p:nvPr/>
        </p:nvSpPr>
        <p:spPr>
          <a:xfrm>
            <a:off x="9750415" y="5359959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9A65C3-D92B-F36C-1EFC-6F9DC0A06CAA}"/>
              </a:ext>
            </a:extLst>
          </p:cNvPr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FE52B5-6C5A-C80C-F73A-7FC9B0811E6E}"/>
              </a:ext>
            </a:extLst>
          </p:cNvPr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46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3</a:t>
            </a:r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8FD82F87-381A-8160-5B5C-D1135294F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82016"/>
            <a:ext cx="1771650" cy="3845876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EF4B7926-1060-A423-5403-7C51CCA837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405" y="1390649"/>
            <a:ext cx="1771650" cy="3821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625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5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533525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438525" y="1533525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267450" y="1533525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096375" y="1533525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Title"/>
          <p:cNvSpPr txBox="1"/>
          <p:nvPr/>
        </p:nvSpPr>
        <p:spPr>
          <a:xfrm>
            <a:off x="609600" y="703360"/>
            <a:ext cx="7915370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400" b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初めからユーザーの言葉で組み立てる</a:t>
            </a:r>
            <a:endParaRPr sz="24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93420" y="3131790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起動画面の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8188" y="5640829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  <a:endParaRPr sz="14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522345" y="3131790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8125" y="5573274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質問画面</a:t>
            </a:r>
            <a:endParaRPr sz="14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351270" y="3131790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候補カードが並んだ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会話のスクリーンショット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0363" y="5586412"/>
            <a:ext cx="1524917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195" y="3131790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店舗詳細の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96169" y="5552252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</a:t>
            </a:r>
            <a:endParaRPr sz="14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E2135005-EB4C-CA32-2F97-C006A216E8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929" y="1453368"/>
            <a:ext cx="1844580" cy="4004191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DC8942D1-8753-FA9C-05AC-E0591C0E10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3501" y="1453368"/>
            <a:ext cx="1871534" cy="4004456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74B759DE-BACF-E12F-36A8-80659D5D30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2426" y="1453368"/>
            <a:ext cx="1867013" cy="4004457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81BC9560-96DA-A74D-B2A3-9E8CAC7335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0810" y="1400175"/>
            <a:ext cx="1844580" cy="39888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6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400175"/>
            <a:ext cx="52197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3720108" y="2105025"/>
            <a:ext cx="2109192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581650" y="25860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95950" y="26812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2700338"/>
            <a:ext cx="4476750" cy="7524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2950" y="3452812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76275" y="3548062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6362700" y="1400175"/>
            <a:ext cx="52197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9648676" y="2105025"/>
            <a:ext cx="1933724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334750" y="25860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49050" y="26812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62700" y="2700338"/>
            <a:ext cx="4476750" cy="7524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96050" y="3452812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29375" y="3548062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609600" y="3724275"/>
            <a:ext cx="52197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3508325" y="4564856"/>
            <a:ext cx="2320975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581650" y="504586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95950" y="514111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9600" y="5160169"/>
            <a:ext cx="4476750" cy="4810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2950" y="5641181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76275" y="5736431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6362700" y="3724275"/>
            <a:ext cx="52197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pic>
        <p:nvPicPr>
          <p:cNvPr id="25" name="Picture 24" descr="img_6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4083844"/>
            <a:ext cx="419100" cy="4191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292233" y="4564856"/>
            <a:ext cx="2290167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1334750" y="504586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449050" y="514111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62700" y="5160169"/>
            <a:ext cx="4476750" cy="4810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96050" y="5641181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29375" y="5736431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2" name="Title"/>
          <p:cNvSpPr txBox="1"/>
          <p:nvPr/>
        </p:nvSpPr>
        <p:spPr>
          <a:xfrm>
            <a:off x="609600" y="428625"/>
            <a:ext cx="9373874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 AI は、変わった点だけ選び直し、足りない情報は聞き返す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1695450"/>
            <a:ext cx="160401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場所が分からない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72508" y="2209800"/>
            <a:ext cx="1895618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近くで定食が食べたい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2805112"/>
            <a:ext cx="4357878" cy="5286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現在地が取れないので、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駅名か地名を教えてください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2700" y="1695450"/>
            <a:ext cx="140589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条件が変わった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1076" y="2209800"/>
            <a:ext cx="171313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やっぱり個室がいい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2805112"/>
            <a:ext cx="4357878" cy="5286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和食の定食・4,000円以内はそのままに、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個室で選び直しました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155281"/>
            <a:ext cx="1199876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比べてほしい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60725" y="4669631"/>
            <a:ext cx="2115872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1件目と2件目の違いは？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5264944"/>
            <a:ext cx="3777758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カードはそのままに、違いを文章で答えます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7050" y="4155281"/>
            <a:ext cx="140589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合うお店がない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44633" y="4669631"/>
            <a:ext cx="2083832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この近くでジンギスカン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5100" y="5264944"/>
            <a:ext cx="3777758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数を埋めずに、見つからなかったと伝えます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143625"/>
            <a:ext cx="1564541" cy="1619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吹き出しの文面は説明用の例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7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532890"/>
            <a:ext cx="2857500" cy="4574381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" name="Picture 3" descr="img_7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421" y="2828141"/>
            <a:ext cx="685800" cy="685800"/>
          </a:xfrm>
          <a:prstGeom prst="rect">
            <a:avLst/>
          </a:prstGeom>
        </p:spPr>
      </p:pic>
      <p:pic>
        <p:nvPicPr>
          <p:cNvPr id="5" name="Picture 4" descr="img_7_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991" y="2828141"/>
            <a:ext cx="685800" cy="685800"/>
          </a:xfrm>
          <a:prstGeom prst="rect">
            <a:avLst/>
          </a:prstGeom>
        </p:spPr>
      </p:pic>
      <p:pic>
        <p:nvPicPr>
          <p:cNvPr id="6" name="Picture 5" descr="img_7_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6041" y="2828141"/>
            <a:ext cx="685800" cy="685800"/>
          </a:xfrm>
          <a:prstGeom prst="rect">
            <a:avLst/>
          </a:prstGeom>
        </p:spPr>
      </p:pic>
      <p:pic>
        <p:nvPicPr>
          <p:cNvPr id="7" name="Picture 6" descr="img_7_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3884374"/>
            <a:ext cx="1333500" cy="6858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781050" y="4945370"/>
            <a:ext cx="25146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3590925" y="3696256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0" name="Freeform 9"/>
          <p:cNvSpPr/>
          <p:nvPr/>
        </p:nvSpPr>
        <p:spPr>
          <a:xfrm>
            <a:off x="4124325" y="3639106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3590925" y="3867706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95250" y="0"/>
                </a:moveTo>
                <a:lnTo>
                  <a:pt x="95250" y="133350"/>
                </a:lnTo>
                <a:lnTo>
                  <a:pt x="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86175" y="3924856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43400" y="1532890"/>
            <a:ext cx="4152900" cy="4574381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 dirty="0"/>
          </a:p>
        </p:txBody>
      </p:sp>
      <p:pic>
        <p:nvPicPr>
          <p:cNvPr id="14" name="Picture 13" descr="img_7_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4850" y="2417971"/>
            <a:ext cx="1333500" cy="685800"/>
          </a:xfrm>
          <a:prstGeom prst="rect">
            <a:avLst/>
          </a:prstGeom>
        </p:spPr>
      </p:pic>
      <p:pic>
        <p:nvPicPr>
          <p:cNvPr id="15" name="Picture 14" descr="img_7_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2417971"/>
            <a:ext cx="1333500" cy="685800"/>
          </a:xfrm>
          <a:prstGeom prst="rect">
            <a:avLst/>
          </a:prstGeom>
        </p:spPr>
      </p:pic>
      <p:pic>
        <p:nvPicPr>
          <p:cNvPr id="16" name="Picture 15" descr="img_7_2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72350" y="2417971"/>
            <a:ext cx="685800" cy="6858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514850" y="34742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57950" y="34742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14850" y="41600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57950" y="41600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4514850" y="4926767"/>
            <a:ext cx="3810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8619976" y="2841238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9153376" y="2784088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620125" y="5176054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9153525" y="5118904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372600" y="1532890"/>
            <a:ext cx="2209800" cy="222051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7" name="Picture 26" descr="img_7_2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34600" y="1964938"/>
            <a:ext cx="685800" cy="685800"/>
          </a:xfrm>
          <a:prstGeom prst="rect">
            <a:avLst/>
          </a:prstGeom>
        </p:spPr>
      </p:pic>
      <p:cxnSp>
        <p:nvCxnSpPr>
          <p:cNvPr id="28" name="Connector 27"/>
          <p:cNvCxnSpPr/>
          <p:nvPr/>
        </p:nvCxnSpPr>
        <p:spPr>
          <a:xfrm>
            <a:off x="9544050" y="3025934"/>
            <a:ext cx="18669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9372600" y="3886756"/>
            <a:ext cx="2209800" cy="222051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0" name="Picture 29" descr="img_7_2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10750" y="4318804"/>
            <a:ext cx="1333500" cy="685800"/>
          </a:xfrm>
          <a:prstGeom prst="rect">
            <a:avLst/>
          </a:prstGeom>
        </p:spPr>
      </p:pic>
      <p:cxnSp>
        <p:nvCxnSpPr>
          <p:cNvPr id="31" name="Connector 30"/>
          <p:cNvCxnSpPr/>
          <p:nvPr/>
        </p:nvCxnSpPr>
        <p:spPr>
          <a:xfrm>
            <a:off x="9544050" y="5379799"/>
            <a:ext cx="18669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35" name="Title"/>
          <p:cNvSpPr txBox="1"/>
          <p:nvPr/>
        </p:nvSpPr>
        <p:spPr>
          <a:xfrm>
            <a:off x="609600" y="510829"/>
            <a:ext cx="8410980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アーキテクチャ</a:t>
            </a:r>
            <a:endParaRPr sz="24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60569" y="1707689"/>
            <a:ext cx="1343823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5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フロントエンド</a:t>
            </a:r>
            <a:endParaRPr sz="15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57151" y="3552041"/>
            <a:ext cx="76648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React Native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1788" y="3552041"/>
            <a:ext cx="312206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Expo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89174" y="3552041"/>
            <a:ext cx="65953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TypeScript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011" y="4608274"/>
            <a:ext cx="104942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会話のキャッシュ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" y="5045383"/>
            <a:ext cx="192920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SecureStore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端末の資格情報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8550" y="3497198"/>
            <a:ext cx="584990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HTTPS </a:t>
            </a:r>
            <a:r>
              <a:rPr lang="en-US" sz="800" b="0" i="0" dirty="0" err="1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R</a:t>
            </a:r>
            <a:r>
              <a:rPr lang="en-US" sz="800" dirty="0" err="1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eqests</a:t>
            </a:r>
            <a:endParaRPr sz="8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598393" y="4067731"/>
            <a:ext cx="613565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SSE </a:t>
            </a:r>
            <a:r>
              <a:rPr lang="en-US" sz="90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send</a:t>
            </a:r>
            <a:endParaRPr sz="9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00004" y="3141871"/>
            <a:ext cx="1163193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Cloudflare Workers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64032" y="3141871"/>
            <a:ext cx="89263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HTTP の受け口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85483" y="3141871"/>
            <a:ext cx="65953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TypeScript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9150" y="3578979"/>
            <a:ext cx="1627227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ConversationHistoryDO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9150" y="3788529"/>
            <a:ext cx="29641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3578979"/>
            <a:ext cx="70767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ThreadDO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72250" y="3788529"/>
            <a:ext cx="59112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AI の実行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29150" y="4264779"/>
            <a:ext cx="1318903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SavedReferenceDO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29150" y="4474329"/>
            <a:ext cx="71247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保存と決定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72250" y="4264779"/>
            <a:ext cx="915853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TelemetryDO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72250" y="4474329"/>
            <a:ext cx="57378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運用ログ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14850" y="5026779"/>
            <a:ext cx="337981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Durable Objects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ユーザーごとに状態を分けて持つ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58300" y="2570540"/>
            <a:ext cx="726555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dirty="0" err="1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ThreadDO</a:t>
            </a:r>
            <a:r>
              <a:rPr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 </a:t>
            </a:r>
            <a:r>
              <a:rPr lang="en-US"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Call</a:t>
            </a:r>
            <a:endParaRPr sz="9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621510" y="4911408"/>
            <a:ext cx="565583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Tool </a:t>
            </a:r>
            <a:r>
              <a:rPr lang="en-US" sz="90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Call</a:t>
            </a:r>
            <a:endParaRPr sz="9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0247257" y="2688838"/>
            <a:ext cx="460486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OpenAI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4050" y="3125946"/>
            <a:ext cx="163558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gpt-5.6-luna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会話と提案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3933" y="5042704"/>
            <a:ext cx="130698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ホットペッパーグルメ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5479812"/>
            <a:ext cx="1914966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グルメサーチAPI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店舗と写真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7" name="TextBox 35">
            <a:extLst>
              <a:ext uri="{FF2B5EF4-FFF2-40B4-BE49-F238E27FC236}">
                <a16:creationId xmlns:a16="http://schemas.microsoft.com/office/drawing/2014/main" id="{A69CA162-9C08-8435-F918-9FEB794DC5FA}"/>
              </a:ext>
            </a:extLst>
          </p:cNvPr>
          <p:cNvSpPr txBox="1"/>
          <p:nvPr/>
        </p:nvSpPr>
        <p:spPr>
          <a:xfrm>
            <a:off x="4504527" y="1672729"/>
            <a:ext cx="1343823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5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バックエンド・インフラ</a:t>
            </a:r>
            <a:endParaRPr sz="15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3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pic>
        <p:nvPicPr>
          <p:cNvPr id="3" name="Picture 2" descr="img_9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90650"/>
            <a:ext cx="10972800" cy="419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905375" y="2438400"/>
            <a:ext cx="2381250" cy="2286000"/>
          </a:xfrm>
          <a:prstGeom prst="rect">
            <a:avLst/>
          </a:prstGeom>
          <a:noFill/>
          <a:ln w="9525">
            <a:solidFill>
              <a:srgbClr val="6B6A66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5" name="Picture 4" descr="img_9_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3100" y="2708970"/>
            <a:ext cx="685800" cy="839986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09600" y="14001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609600" y="18907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8134350" y="14001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8134350" y="18907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609600" y="39147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609600" y="44053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8134350" y="39147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8134350" y="4405312"/>
            <a:ext cx="247650" cy="2476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Title"/>
          <p:cNvSpPr txBox="1"/>
          <p:nvPr/>
        </p:nvSpPr>
        <p:spPr>
          <a:xfrm>
            <a:off x="609600" y="428625"/>
            <a:ext cx="8894981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曖昧な一言からその人に合う店を選び、共有までつなげていく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2966" y="3663255"/>
            <a:ext cx="926068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いまの 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51" y="4025205"/>
            <a:ext cx="1940350" cy="4143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希望を伝えると、理由付きで</a:t>
            </a:r>
          </a:p>
          <a:p>
            <a:pPr algn="ctr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3件以内に絞る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562100"/>
            <a:ext cx="195660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プロンプトの上手さに頼らない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1847850"/>
            <a:ext cx="2871978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曖昧な一言から意図を汲む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818" y="1914525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276475"/>
            <a:ext cx="3605022" cy="71616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「いい感じのとこ」のような抽象的な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言葉からも、エージェントが意図を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読み取って提案する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4350" y="1562100"/>
            <a:ext cx="195660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コンテキストの構造を設計する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300" y="1847850"/>
            <a:ext cx="2396490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その人に合う店を選ぶ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4568" y="1914525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4350" y="2276475"/>
            <a:ext cx="3605022" cy="71616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好みや同行者、これまでの決定を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構造化して渡し、パーソナライズ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された意味のある店を提案する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076700"/>
            <a:ext cx="251133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ほかのアプリやプラットフォームと連携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550" y="4362450"/>
            <a:ext cx="2634234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提案をそのまま共有する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818" y="4429125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4791075"/>
            <a:ext cx="3605022" cy="4723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エージェントが選んだ店と理由を、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同行者へ渡しやすくする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4350" y="4076700"/>
            <a:ext cx="57378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スケール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4362450"/>
            <a:ext cx="2389370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サービスとして広げる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6589" y="4429125"/>
            <a:ext cx="16779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4350" y="4791075"/>
            <a:ext cx="3605022" cy="4723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個人の検証版から、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誰でも使える公開サービスへ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839</TotalTime>
  <Words>343</Words>
  <Application>Microsoft Macintosh PowerPoint</Application>
  <PresentationFormat>ワイド画面</PresentationFormat>
  <Paragraphs>169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Yu Gothic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</dc:title>
  <dc:subject/>
  <dc:creator/>
  <cp:keywords/>
  <dc:description>generated using python-pptx</dc:description>
  <cp:lastModifiedBy/>
  <cp:revision>14</cp:revision>
  <dcterms:created xsi:type="dcterms:W3CDTF">2013-01-27T09:14:16Z</dcterms:created>
  <dcterms:modified xsi:type="dcterms:W3CDTF">2026-10-11T04:25:18Z</dcterms:modified>
  <cp:category/>
</cp:coreProperties>
</file>