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381000"/>
            <a:ext cx="1752600" cy="1752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0" y="800100"/>
            <a:ext cx="1924050" cy="4857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9734550" y="1038225"/>
            <a:ext cx="114300" cy="1143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9848850" y="1152525"/>
            <a:ext cx="76200" cy="762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6" name="Picture 5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53394"/>
            <a:ext cx="4953000" cy="31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914400"/>
            <a:ext cx="162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8" name="Title"/>
          <p:cNvSpPr txBox="1"/>
          <p:nvPr/>
        </p:nvSpPr>
        <p:spPr>
          <a:xfrm>
            <a:off x="6172200" y="2672060"/>
            <a:ext cx="5645658" cy="176629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「次どこ行く？」を、</a:t>
            </a:r>
          </a:p>
          <a:p>
            <a:pPr algn="l">
              <a:lnSpc>
                <a:spcPts val="4554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4645223"/>
            <a:ext cx="5645658" cy="54664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</a:t>
            </a:r>
          </a:p>
          <a:p>
            <a:pPr algn="l">
              <a:lnSpc>
                <a:spcPts val="2279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次に入るお店を絞り込める iPhone アプリ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652861"/>
            <a:ext cx="1309688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3200549"/>
            <a:ext cx="1465064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42950" y="3691086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76275" y="3786336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232297" y="4305300"/>
            <a:ext cx="2425303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409950" y="47958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3524250" y="48910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5410051"/>
            <a:ext cx="3048000" cy="49053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42950" y="5900589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6275" y="5995839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076700" y="1562398"/>
          <a:ext cx="7505700" cy="4743152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2847975"/>
                <a:gridCol w="2847975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つまずき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起きていること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なぜ起きるか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4839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「どこでもいいよ」と任され、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1人で地図と検索を行き来する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同行者の気分・体力・予算が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言葉にならないまま任され、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探す人が推し量るしかない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41252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検索結果が一覧で並び、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比べているうちに時間が過ぎる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検索サービスは条件に合う店を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広く並べ、同行者に合う数件へ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絞る作業は探す役に残る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34405"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評価や写真を見比べても、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「なぜここか」を同行者に</a:t>
                      </a:r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説明しにくい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候補ごとに、同行者のどの希望に</a:t>
                      </a:r>
                      <a:endParaRPr sz="100"/>
                    </a:p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合うかが添えられていない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4076700" y="2593777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076700" y="403621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076700" y="5476429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外出中の「次どこ行く？」は探す負担が1人に集まり、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候補を前に決めきれない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16290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想定する場面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40521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50" y="2776686"/>
            <a:ext cx="102450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324374"/>
            <a:ext cx="118610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5976" y="4057650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3747" y="4429125"/>
            <a:ext cx="2184749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62401"/>
            <a:ext cx="40553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533876"/>
            <a:ext cx="1366266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0370" y="2612827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0550" y="2459534"/>
            <a:ext cx="1015841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0370" y="405526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0550" y="390197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0370" y="5495479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0550" y="5342186"/>
            <a:ext cx="1088898" cy="49619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  <a:p>
            <a:pPr algn="l">
              <a:lnSpc>
                <a:spcPts val="1957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360414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09383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18908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415605"/>
            <a:ext cx="2378422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09600" y="4206180"/>
            <a:ext cx="2379613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2950" y="493960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76275" y="503485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9600" y="5166122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95325" y="5821412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657350" y="5166122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743075" y="5821412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705100" y="5166122"/>
            <a:ext cx="952500" cy="102676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790825" y="5821412"/>
            <a:ext cx="781050" cy="266700"/>
          </a:xfrm>
          <a:prstGeom prst="rect">
            <a:avLst/>
          </a:prstGeom>
          <a:noFill/>
          <a:ln w="9525">
            <a:solidFill>
              <a:srgbClr val="9A9993"/>
            </a:solidFill>
          </a:ln>
        </p:spPr>
        <p:txBody>
          <a:bodyPr rtlCol="0" anchor="ctr"/>
          <a:lstStyle/>
          <a:p/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076700" y="1562398"/>
          <a:ext cx="7505700" cy="4743153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1809750"/>
                <a:gridCol w="3543300"/>
                <a:gridCol w="21526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ima の特徴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ユーザーと ima の動き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応えるつまずき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46758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希望をそのまま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伝えられる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ユーザーは状況をそのまま書くか、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5つの質問にタップで答えて探し始める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場所など提案に欠かせない情報が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足りないときだけ、AIが原則1つ聞き返す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41252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3件以内に絞る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AIがホットペッパーグルメの掲載店から、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主提案1件と別案最大2件をカードで並べる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ユーザーが店舗詳細を見て、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「ここにする」で決める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436043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理由を添える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AIが、重視した希望と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それに合う店舗情報を短く添える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AIが、掲載情報で確かめた事実と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推測を分けて書く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endParaRPr sz="8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9563100" y="2592884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9563100" y="4034582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9563100" y="5475536"/>
            <a:ext cx="228600" cy="2286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とは、希望を伝えるだけで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次に入るお店を理由付きで3件以内に絞る iPhone アプリ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使い方の例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2112764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2484239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3167955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3539430"/>
            <a:ext cx="2135993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050" y="4330005"/>
            <a:ext cx="2137231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1件目は定食があり、掲載の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予算目安が4,000円以内です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325" y="5289947"/>
            <a:ext cx="46497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325" y="5556647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878562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43075" y="5289947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43075" y="5556647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42694" y="5878562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90825" y="5289947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90825" y="5556647"/>
            <a:ext cx="613565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90444" y="5878562"/>
            <a:ext cx="78181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237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店舗詳細を見る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6950" y="2476798"/>
            <a:ext cx="81168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86950" y="2697659"/>
            <a:ext cx="905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1人に集まる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36770" y="2611934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6950" y="3918496"/>
            <a:ext cx="96538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6950" y="4139357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決めきれない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6770" y="4053632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6950" y="5359450"/>
            <a:ext cx="97018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86950" y="5580311"/>
            <a:ext cx="80843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伝えにくい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36770" y="5494586"/>
            <a:ext cx="103561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5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4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1828800" y="1562398"/>
            <a:ext cx="2366962" cy="609600"/>
          </a:xfrm>
          <a:custGeom>
            <a:avLst/>
            <a:gdLst/>
            <a:ahLst/>
            <a:cxnLst/>
            <a:rect l="l" t="t" r="r" b="b"/>
            <a:pathLst>
              <a:path w="2366962" h="609600">
                <a:moveTo>
                  <a:pt x="0" y="0"/>
                </a:moveTo>
                <a:lnTo>
                  <a:pt x="2157412" y="0"/>
                </a:lnTo>
                <a:lnTo>
                  <a:pt x="2366962" y="304800"/>
                </a:lnTo>
                <a:lnTo>
                  <a:pt x="2157412" y="609600"/>
                </a:lnTo>
                <a:lnTo>
                  <a:pt x="0" y="6096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4291012" y="1562398"/>
            <a:ext cx="2366963" cy="609600"/>
          </a:xfrm>
          <a:custGeom>
            <a:avLst/>
            <a:gdLst/>
            <a:ahLst/>
            <a:cxnLst/>
            <a:rect l="l" t="t" r="r" b="b"/>
            <a:pathLst>
              <a:path w="2366963" h="609600">
                <a:moveTo>
                  <a:pt x="0" y="0"/>
                </a:moveTo>
                <a:lnTo>
                  <a:pt x="2157413" y="0"/>
                </a:lnTo>
                <a:lnTo>
                  <a:pt x="2366963" y="304800"/>
                </a:lnTo>
                <a:lnTo>
                  <a:pt x="2157413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Freeform 4"/>
          <p:cNvSpPr/>
          <p:nvPr/>
        </p:nvSpPr>
        <p:spPr>
          <a:xfrm>
            <a:off x="6753225" y="1562398"/>
            <a:ext cx="2366963" cy="609600"/>
          </a:xfrm>
          <a:custGeom>
            <a:avLst/>
            <a:gdLst/>
            <a:ahLst/>
            <a:cxnLst/>
            <a:rect l="l" t="t" r="r" b="b"/>
            <a:pathLst>
              <a:path w="2366963" h="609600">
                <a:moveTo>
                  <a:pt x="0" y="0"/>
                </a:moveTo>
                <a:lnTo>
                  <a:pt x="2157413" y="0"/>
                </a:lnTo>
                <a:lnTo>
                  <a:pt x="2366963" y="304800"/>
                </a:lnTo>
                <a:lnTo>
                  <a:pt x="2157413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Freeform 5"/>
          <p:cNvSpPr/>
          <p:nvPr/>
        </p:nvSpPr>
        <p:spPr>
          <a:xfrm>
            <a:off x="9215438" y="1562398"/>
            <a:ext cx="2366962" cy="609600"/>
          </a:xfrm>
          <a:custGeom>
            <a:avLst/>
            <a:gdLst/>
            <a:ahLst/>
            <a:cxnLst/>
            <a:rect l="l" t="t" r="r" b="b"/>
            <a:pathLst>
              <a:path w="2366962" h="609600">
                <a:moveTo>
                  <a:pt x="0" y="0"/>
                </a:moveTo>
                <a:lnTo>
                  <a:pt x="2157412" y="0"/>
                </a:lnTo>
                <a:lnTo>
                  <a:pt x="2366962" y="304800"/>
                </a:lnTo>
                <a:lnTo>
                  <a:pt x="2157412" y="609600"/>
                </a:lnTo>
                <a:lnTo>
                  <a:pt x="0" y="609600"/>
                </a:lnTo>
                <a:lnTo>
                  <a:pt x="209550" y="304800"/>
                </a:lnTo>
                <a:close/>
              </a:path>
            </a:pathLst>
          </a:cu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09600" y="2181523"/>
            <a:ext cx="11239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1828800" y="2181523"/>
            <a:ext cx="236696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4291012" y="2181523"/>
            <a:ext cx="236696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6753225" y="2181523"/>
            <a:ext cx="2366963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215438" y="2181523"/>
            <a:ext cx="2366962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09600" y="3248323"/>
            <a:ext cx="11239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828800" y="3248323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4291012" y="3248323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53225" y="3248323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9215438" y="3248323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09600" y="4779318"/>
            <a:ext cx="112395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1828800" y="4779318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4291012" y="4779318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6753225" y="4779318"/>
            <a:ext cx="2366963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9215438" y="4779318"/>
            <a:ext cx="2366962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ユーザーは入口を選んで希望を伝え、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届いた候補から「ここにする」で決める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0250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11586" y="17433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入口を選ぶ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4862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26198" y="1743373"/>
            <a:ext cx="108363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7075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8411" y="1743373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候補を受け取る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39288" y="1729085"/>
            <a:ext cx="139779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0623" y="1743373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決めて向かう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2593479"/>
            <a:ext cx="3756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画面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85950" y="2595414"/>
            <a:ext cx="223814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起動のたびに出るスプラッシュ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8162" y="2595414"/>
            <a:ext cx="200427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チャット、または5問の質問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0375" y="2595414"/>
            <a:ext cx="128717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2588" y="2595414"/>
            <a:ext cx="65318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889921"/>
            <a:ext cx="7287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85950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「チャットで話す」か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「質問に答える」を選ぶ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8162" y="3648075"/>
            <a:ext cx="2381631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誰と・食べたいもの・系統・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予算・雰囲気に答える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0375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条件の追加・変更・比較を、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同じ会話のまま頼む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2588" y="3769965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「店舗詳細を見る」から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5420916"/>
            <a:ext cx="350591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85950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入口を毎回尋ね、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選んだ入口は記憶しない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8162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質問の回答を1文にまとめ、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会話の最初の発言として送る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0375" y="5179070"/>
            <a:ext cx="2381631" cy="71616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地名がなければ現在地の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1km圏から探し、主提案1件と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別案最大2件を返す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72588" y="5300960"/>
            <a:ext cx="2381631" cy="4723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決めたお店を保存一覧に残し、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Google Maps や共有へつなぐ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252888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5" name="Connector 4"/>
          <p:cNvCxnSpPr/>
          <p:nvPr/>
        </p:nvCxnSpPr>
        <p:spPr>
          <a:xfrm>
            <a:off x="3424238" y="1971973"/>
            <a:ext cx="25288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3424238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6238875" y="1971973"/>
            <a:ext cx="25288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6238875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cxnSp>
        <p:nvCxnSpPr>
          <p:cNvPr id="9" name="Connector 8"/>
          <p:cNvCxnSpPr/>
          <p:nvPr/>
        </p:nvCxnSpPr>
        <p:spPr>
          <a:xfrm>
            <a:off x="9053512" y="1971973"/>
            <a:ext cx="2528888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9053512" y="2133898"/>
            <a:ext cx="1428750" cy="3095625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1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の主要画面は、入口の選択から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店舗詳細での決定までを1本の会話でつなぐ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629073"/>
            <a:ext cx="3756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375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スプラッシュの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" y="5372398"/>
            <a:ext cx="235175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がチャットか質問かを尋ねる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050" y="5651004"/>
            <a:ext cx="18022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選んだ入口へそのまま進む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238" y="1629073"/>
            <a:ext cx="37566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012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5688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誰と・食べたいもの・系統・予算・雰囲気をタップで答える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5688" y="5872460"/>
            <a:ext cx="2025789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答えは1文になって会話へ渡る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8875" y="1629073"/>
            <a:ext cx="144551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3650" y="3285530"/>
            <a:ext cx="1256538" cy="77524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候補カードが並んだ会話の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0325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主提案と別案を同じ大きさのカードで並べる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0325" y="5872460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カードから保存・地図・</a:t>
            </a:r>
            <a:br/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店舗詳細へ進む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3512" y="1629073"/>
            <a:ext cx="73228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8288" y="3384500"/>
            <a:ext cx="1256538" cy="577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店舗詳細シートの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スクリーンショットを入れる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4962" y="5372398"/>
            <a:ext cx="2411849" cy="4214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営業時間・定休日・アクセス・予算の掲載情報と出典を出す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4962" y="5872460"/>
            <a:ext cx="1655088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 marL="142875" indent="-142875">
              <a:lnSpc>
                <a:spcPts val="1743"/>
              </a:lnSpc>
              <a:spcBef>
                <a:spcPts val="0"/>
              </a:spcBef>
              <a:spcAft>
                <a:spcPts val="0"/>
              </a:spcAft>
              <a:buSzPct val="100000"/>
              <a:buFont typeface="Yu Gothic"/>
              <a:buChar char="•"/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「ここにする」で決める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6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30480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885825" y="2395686"/>
            <a:ext cx="2771775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409950" y="3129111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3524250" y="3224361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09600" y="3486150"/>
            <a:ext cx="3048000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42950" y="421957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76275" y="431482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85825" y="4576614"/>
            <a:ext cx="2771775" cy="490538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409950" y="5067151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524250" y="5162401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09600" y="5424190"/>
            <a:ext cx="3048000" cy="73342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2950" y="615761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76275" y="625286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076700" y="1562398"/>
          <a:ext cx="7505700" cy="4743153"/>
        </p:xfrm>
        <a:graphic>
          <a:graphicData uri="http://schemas.openxmlformats.org/drawingml/2006/table">
            <a:tbl>
              <a:tblPr firstRow="0" bandRow="0" firstCol="0" lastRow="0" lastCol="0" bandCol="0">
                <a:tableStyleId>{2D5ABB26-0587-4C30-8999-92F81FD0307C}</a:tableStyleId>
              </a:tblPr>
              <a:tblGrid>
                <a:gridCol w="2190750"/>
                <a:gridCol w="5314950"/>
              </a:tblGrid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場面</a:t>
                      </a:r>
                      <a:endParaRPr sz="100"/>
                    </a:p>
                  </a:txBody>
                  <a:tcPr marT="0" marR="133350" marB="85725" marL="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213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AI の判断</a:t>
                      </a:r>
                      <a:endParaRPr sz="100"/>
                    </a:p>
                  </a:txBody>
                  <a:tcPr marT="0" marR="133350" marB="85725" marL="13335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>
                      <a:solidFill>
                        <a:srgbClr val="ECEBE6"/>
                      </a:solidFill>
                    </a:lnB>
                    <a:noFill/>
                  </a:tcPr>
                </a:tc>
              </a:tr>
              <a:tr h="1462385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場所が分からない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現在地が使えれば聞き返さず、</a:t>
                      </a:r>
                      <a:br/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周辺を1km圏から3km圏まで広げて探す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現在地が使えなければ理由を伝え、駅名や地名を尋ねる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103263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条件が変わった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変わっていない希望を引き継ぐ</a:t>
                      </a:r>
                      <a:endParaRPr sz="100"/>
                    </a:p>
                    <a:p>
                      <a:pPr algn="l" marL="152400" indent="-152400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100000"/>
                        <a:buFont typeface="Yu Gothic"/>
                        <a:buChar char="•"/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変更点が分かれば選び直し、分からなければ聞き返す</a:t>
                      </a:r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1062038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説明や比較を</a:t>
                      </a:r>
                      <a:endParaRPr sz="100"/>
                    </a:p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頼まれた</a:t>
                      </a:r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カードを出し直さず、メッセージで答える</a:t>
                      </a:r>
                      <a:endParaRPr sz="1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2A2A2E"/>
                      </a:solidFill>
                    </a:lnB>
                    <a:noFill/>
                  </a:tcPr>
                </a:tc>
              </a:tr>
              <a:tr h="696367">
                <a:tc>
                  <a:txBody>
                    <a:bodyPr wrap="square"/>
                    <a:lstStyle/>
                    <a:p>
                      <a:pPr algn="l">
                        <a:lnSpc>
                          <a:spcPts val="1957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候補が見つからない</a:t>
                      </a:r>
                      <a:endParaRPr sz="100"/>
                    </a:p>
                  </a:txBody>
                  <a:tcPr marT="114300" marR="133350" marB="114300" marL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ts val="19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ECEBE6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条件に合わない店で数を埋めず、見つからなかったことを伝える</a:t>
                      </a:r>
                      <a:endParaRPr sz="100"/>
                    </a:p>
                  </a:txBody>
                  <a:tcPr marT="114300" marR="133350" marB="114300" marL="1333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は、変わっていない希望を引き継ぎ、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足りない情報だけを聞き返して提案し直す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1629073"/>
            <a:ext cx="233705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条件を変えたときの会話の例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4681" y="2148036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7275" y="2519511"/>
            <a:ext cx="2545080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友だちと和食の定食が食べたい、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238500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050" y="3609975"/>
            <a:ext cx="2832354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近くの和食店から、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条件に合う3件を選びました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4681" y="4328964"/>
            <a:ext cx="53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7275" y="4700439"/>
            <a:ext cx="254508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やっぱり個室があるところがいい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76540"/>
            <a:ext cx="25168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548015"/>
            <a:ext cx="2832354" cy="4810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和食・4,000円以内はそのままに、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個室のある店で選び直しました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7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971973"/>
            <a:ext cx="4563814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4" name="Picture 3" descr="img_7_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2400598"/>
            <a:ext cx="1676400" cy="1676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4438948"/>
            <a:ext cx="1065461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23900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57225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8" name="Picture 7" descr="img_7_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6672" y="2400598"/>
            <a:ext cx="1676400" cy="1676400"/>
          </a:xfrm>
          <a:prstGeom prst="rect">
            <a:avLst/>
          </a:prstGeom>
        </p:spPr>
      </p:pic>
      <p:pic>
        <p:nvPicPr>
          <p:cNvPr id="9" name="Picture 8" descr="img_7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2344" y="2400598"/>
            <a:ext cx="1676400" cy="1676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3740944" y="4438948"/>
            <a:ext cx="912614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855244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788569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5497264" y="1971973"/>
            <a:ext cx="6084987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pic>
        <p:nvPicPr>
          <p:cNvPr id="14" name="Picture 13" descr="img_7_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8664" y="2400598"/>
            <a:ext cx="1676400" cy="1676400"/>
          </a:xfrm>
          <a:prstGeom prst="rect">
            <a:avLst/>
          </a:prstGeom>
        </p:spPr>
      </p:pic>
      <p:pic>
        <p:nvPicPr>
          <p:cNvPr id="15" name="Picture 14" descr="img_7_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3174" y="2400598"/>
            <a:ext cx="1676400" cy="16764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051774" y="4438948"/>
            <a:ext cx="1066949" cy="585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166074" y="5024735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99399" y="511998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9" name="Picture 18" descr="img_7_1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7833" y="2400598"/>
            <a:ext cx="1676400" cy="1676400"/>
          </a:xfrm>
          <a:prstGeom prst="rect">
            <a:avLst/>
          </a:prstGeom>
        </p:spPr>
      </p:pic>
      <p:pic>
        <p:nvPicPr>
          <p:cNvPr id="20" name="Picture 19" descr="img_7_1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2343" y="2400598"/>
            <a:ext cx="1676400" cy="1676400"/>
          </a:xfrm>
          <a:prstGeom prst="rect">
            <a:avLst/>
          </a:prstGeom>
        </p:spPr>
      </p:pic>
      <p:sp>
        <p:nvSpPr>
          <p:cNvPr id="21" name="Title"/>
          <p:cNvSpPr txBox="1"/>
          <p:nvPr/>
        </p:nvSpPr>
        <p:spPr>
          <a:xfrm>
            <a:off x="609600" y="428625"/>
            <a:ext cx="10024110" cy="84787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maru は入口から決定までの場面ごとに姿を変え、</a:t>
            </a:r>
          </a:p>
          <a:p>
            <a:pPr algn="l">
              <a:lnSpc>
                <a:spcPts val="3301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がいま何をしているかを伝える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1629073"/>
            <a:ext cx="91059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入口と質問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096048"/>
            <a:ext cx="1088898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スプラッシュ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375" y="4524673"/>
            <a:ext cx="909197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チャットから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始める？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5272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5272" y="4448473"/>
            <a:ext cx="1508665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質問の横で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虫眼鏡をのぞく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0944" y="4096048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答え終えたとき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5719" y="4524673"/>
            <a:ext cx="750237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探してくる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わん！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7264" y="1629073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会話画面の右下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97264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検索中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7264" y="4448473"/>
            <a:ext cx="75472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走って探す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1774" y="4096048"/>
            <a:ext cx="659225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候補0件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6549" y="4524673"/>
            <a:ext cx="910745" cy="40719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見つから</a:t>
            </a:r>
          </a:p>
          <a:p>
            <a:pPr algn="l">
              <a:lnSpc>
                <a:spcPts val="1631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なかったわん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1774" y="5129510"/>
            <a:ext cx="1497211" cy="4214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検索して0件の</a:t>
            </a:r>
          </a:p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ときだけ言う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6433" y="4096048"/>
            <a:ext cx="126720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失敗・取り消し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06433" y="4448473"/>
            <a:ext cx="1059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困った顔になる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60943" y="4096048"/>
            <a:ext cx="5539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決定後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60943" y="4448473"/>
            <a:ext cx="31638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743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喜ぶ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