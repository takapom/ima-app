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7900" y="381000"/>
            <a:ext cx="1752600" cy="17526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810500" y="800100"/>
            <a:ext cx="1924050" cy="4857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9734550" y="1038225"/>
            <a:ext cx="114300" cy="1143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9848850" y="1152525"/>
            <a:ext cx="76200" cy="762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6" name="Picture 5" descr="img_1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153394"/>
            <a:ext cx="4953000" cy="31416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01000" y="914400"/>
            <a:ext cx="1623822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いっしょに探すわん</a:t>
            </a:r>
          </a:p>
        </p:txBody>
      </p:sp>
      <p:sp>
        <p:nvSpPr>
          <p:cNvPr id="8" name="Title"/>
          <p:cNvSpPr txBox="1"/>
          <p:nvPr/>
        </p:nvSpPr>
        <p:spPr>
          <a:xfrm>
            <a:off x="6172200" y="2672060"/>
            <a:ext cx="5645658" cy="17662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554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大切な人との</a:t>
            </a:r>
          </a:p>
          <a:p>
            <a:pPr algn="l">
              <a:lnSpc>
                <a:spcPts val="4554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「次どこ行く？」を、</a:t>
            </a:r>
          </a:p>
          <a:p>
            <a:pPr algn="l">
              <a:lnSpc>
                <a:spcPts val="4554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 に聞いて決める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4645223"/>
            <a:ext cx="5645658" cy="54664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79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外出中に希望を伝えるだけで、</a:t>
            </a:r>
          </a:p>
          <a:p>
            <a:pPr algn="l">
              <a:lnSpc>
                <a:spcPts val="2279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次に入るお店を絞り込める iPhone アプリ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2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9600" y="1390650"/>
            <a:ext cx="3810000" cy="49149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57250" y="2238375"/>
            <a:ext cx="1480245" cy="53340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57250" y="2828925"/>
            <a:ext cx="1663154" cy="53340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990600" y="3362325"/>
            <a:ext cx="114300" cy="9525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923925" y="3457575"/>
            <a:ext cx="66675" cy="66675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379190" y="4000500"/>
            <a:ext cx="2792760" cy="53340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924300" y="4533900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038600" y="4629150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857250" y="5172075"/>
            <a:ext cx="3314700" cy="53340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990600" y="5705475"/>
            <a:ext cx="114300" cy="9525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923925" y="5800725"/>
            <a:ext cx="66675" cy="66675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105400" y="2487811"/>
            <a:ext cx="438150" cy="4381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5" name="Connector 14"/>
          <p:cNvCxnSpPr/>
          <p:nvPr/>
        </p:nvCxnSpPr>
        <p:spPr>
          <a:xfrm>
            <a:off x="5105400" y="3277493"/>
            <a:ext cx="64770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16" name="Rectangle 15"/>
          <p:cNvSpPr/>
          <p:nvPr/>
        </p:nvSpPr>
        <p:spPr>
          <a:xfrm>
            <a:off x="5105400" y="3628876"/>
            <a:ext cx="438150" cy="4381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7" name="Connector 16"/>
          <p:cNvCxnSpPr/>
          <p:nvPr/>
        </p:nvCxnSpPr>
        <p:spPr>
          <a:xfrm>
            <a:off x="5105400" y="4418558"/>
            <a:ext cx="64770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18" name="Rectangle 17"/>
          <p:cNvSpPr/>
          <p:nvPr/>
        </p:nvSpPr>
        <p:spPr>
          <a:xfrm>
            <a:off x="5105400" y="4769941"/>
            <a:ext cx="438150" cy="4381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Title"/>
          <p:cNvSpPr txBox="1"/>
          <p:nvPr/>
        </p:nvSpPr>
        <p:spPr>
          <a:xfrm>
            <a:off x="609600" y="428625"/>
            <a:ext cx="9690556" cy="4381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外出中の「次どこ行く？」は、探す役の1人が背負って決めきれない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1990725"/>
            <a:ext cx="40553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同行者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" y="2362200"/>
            <a:ext cx="1201888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次どこ行く？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" y="2952750"/>
            <a:ext cx="1392114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どこでもいいよ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00326" y="3752850"/>
            <a:ext cx="40553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探す役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0640" y="4124325"/>
            <a:ext cx="2566904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ちょっと待って、調べてみる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" y="4924425"/>
            <a:ext cx="40553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同行者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" y="5295900"/>
            <a:ext cx="1604010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まだ決まらない？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54823" y="2535436"/>
            <a:ext cx="163925" cy="3333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86450" y="2350740"/>
            <a:ext cx="2956489" cy="381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探す負担が1人に集まる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86450" y="2786955"/>
            <a:ext cx="4921746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「どこでもいいよ」と任され、1人で地図と検索を行き来する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4823" y="3676501"/>
            <a:ext cx="163925" cy="3333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86450" y="3491805"/>
            <a:ext cx="3339263" cy="381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候補が多くて決めきれない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86450" y="3928021"/>
            <a:ext cx="3399782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検索結果を比べているうちに時間が過ぎる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54823" y="4817566"/>
            <a:ext cx="163925" cy="3333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86450" y="4632871"/>
            <a:ext cx="3064681" cy="381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選んだ理由を伝えにくい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86450" y="5069086"/>
            <a:ext cx="3225034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「なぜここか」を同行者に説明しにくい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3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056382" y="2995464"/>
            <a:ext cx="2548533" cy="8191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357265" y="3814614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471565" y="3909864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609600" y="4795689"/>
            <a:ext cx="3442097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7" name="Rectangle 6"/>
          <p:cNvSpPr/>
          <p:nvPr/>
        </p:nvSpPr>
        <p:spPr>
          <a:xfrm>
            <a:off x="609600" y="5010001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Freeform 7"/>
          <p:cNvSpPr/>
          <p:nvPr/>
        </p:nvSpPr>
        <p:spPr>
          <a:xfrm>
            <a:off x="4227909" y="3300264"/>
            <a:ext cx="142875" cy="209550"/>
          </a:xfrm>
          <a:custGeom>
            <a:avLst/>
            <a:gdLst/>
            <a:ahLst/>
            <a:cxnLst/>
            <a:rect l="l" t="t" r="r" b="b"/>
            <a:pathLst>
              <a:path w="142875" h="209550">
                <a:moveTo>
                  <a:pt x="0" y="0"/>
                </a:moveTo>
                <a:lnTo>
                  <a:pt x="0" y="209550"/>
                </a:lnTo>
                <a:lnTo>
                  <a:pt x="142875" y="104775"/>
                </a:lnTo>
                <a:close/>
              </a:path>
            </a:pathLst>
          </a:custGeom>
          <a:solidFill>
            <a:srgbClr val="6B6A66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9" name="Picture 8" descr="img_3_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9282" y="2234654"/>
            <a:ext cx="1428750" cy="1750219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4546997" y="4795689"/>
            <a:ext cx="2753618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11" name="Rectangle 10"/>
          <p:cNvSpPr/>
          <p:nvPr/>
        </p:nvSpPr>
        <p:spPr>
          <a:xfrm>
            <a:off x="4546997" y="5010001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Freeform 11"/>
          <p:cNvSpPr/>
          <p:nvPr/>
        </p:nvSpPr>
        <p:spPr>
          <a:xfrm>
            <a:off x="7476827" y="3300264"/>
            <a:ext cx="142875" cy="209550"/>
          </a:xfrm>
          <a:custGeom>
            <a:avLst/>
            <a:gdLst/>
            <a:ahLst/>
            <a:cxnLst/>
            <a:rect l="l" t="t" r="r" b="b"/>
            <a:pathLst>
              <a:path w="142875" h="209550">
                <a:moveTo>
                  <a:pt x="0" y="0"/>
                </a:moveTo>
                <a:lnTo>
                  <a:pt x="0" y="209550"/>
                </a:lnTo>
                <a:lnTo>
                  <a:pt x="142875" y="104775"/>
                </a:lnTo>
                <a:close/>
              </a:path>
            </a:pathLst>
          </a:custGeom>
          <a:solidFill>
            <a:srgbClr val="6B6A6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7795915" y="2538264"/>
            <a:ext cx="3786485" cy="5143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795915" y="3147864"/>
            <a:ext cx="3786485" cy="5143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795915" y="3757464"/>
            <a:ext cx="3786485" cy="5143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6" name="Connector 15"/>
          <p:cNvCxnSpPr/>
          <p:nvPr/>
        </p:nvCxnSpPr>
        <p:spPr>
          <a:xfrm>
            <a:off x="7795915" y="4795689"/>
            <a:ext cx="3786485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7795915" y="5010001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itle"/>
          <p:cNvSpPr txBox="1"/>
          <p:nvPr/>
        </p:nvSpPr>
        <p:spPr>
          <a:xfrm>
            <a:off x="609600" y="428625"/>
            <a:ext cx="10024110" cy="87094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 とは、希望を伝えるだけで</a:t>
            </a:r>
          </a:p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次に入るお店を理由付きで3件以内に絞る iPhone アプリ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7832" y="3119289"/>
            <a:ext cx="2312908" cy="561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友だちと和食の定食、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予算は4,000円くらいまで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1550" y="4957614"/>
            <a:ext cx="2587026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925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希望をそのまま伝える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9818" y="5033814"/>
            <a:ext cx="109597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386239"/>
            <a:ext cx="2962061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9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書くか、5つの質問にタップで答える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42401" y="4118223"/>
            <a:ext cx="1762661" cy="457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ホットペッパーグルメの</a:t>
            </a:r>
          </a:p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掲載店から探す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08947" y="4957614"/>
            <a:ext cx="1716381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925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3件以内に絞る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27215" y="5033814"/>
            <a:ext cx="109597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46997" y="5386239"/>
            <a:ext cx="2000095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9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主提案1件と別案最大2件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48315" y="2681139"/>
            <a:ext cx="494693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主提案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72215" y="2679204"/>
            <a:ext cx="2231803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定食があり、予算目安が条件内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48315" y="3290739"/>
            <a:ext cx="336197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別案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72215" y="3288804"/>
            <a:ext cx="1762661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駅から近く、すぐ入れる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48315" y="3900339"/>
            <a:ext cx="336197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別案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72215" y="3898404"/>
            <a:ext cx="2227005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個室があり、落ち着いて話せる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7865" y="4957614"/>
            <a:ext cx="1556802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925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理由を添える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76133" y="5033814"/>
            <a:ext cx="109597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95915" y="5386239"/>
            <a:ext cx="3043166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9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重視した希望と、合う店舗情報を短く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6143625"/>
            <a:ext cx="5534989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吹き出しとカードの文面は説明用の例／店舗データ：Powered by </a:t>
            </a:r>
            <a:r>
              <a:rPr sz="900" b="0" i="0" u="sng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ホットペッパーグルメ Webサービス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4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pic>
        <p:nvPicPr>
          <p:cNvPr id="3" name="Picture 2" descr="img_4_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950" y="2296567"/>
            <a:ext cx="1981200" cy="198120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609600" y="4306342"/>
            <a:ext cx="2500312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5" name="Rectangle 4"/>
          <p:cNvSpPr/>
          <p:nvPr/>
        </p:nvSpPr>
        <p:spPr>
          <a:xfrm>
            <a:off x="609600" y="4515892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138488" y="3230017"/>
            <a:ext cx="57150" cy="571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3243262" y="3230017"/>
            <a:ext cx="57150" cy="571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348038" y="3230017"/>
            <a:ext cx="57150" cy="571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9" name="Picture 8" descr="img_4_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6112" y="2296567"/>
            <a:ext cx="1981200" cy="1981200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3433762" y="4306342"/>
            <a:ext cx="2500313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11" name="Rectangle 10"/>
          <p:cNvSpPr/>
          <p:nvPr/>
        </p:nvSpPr>
        <p:spPr>
          <a:xfrm>
            <a:off x="3433762" y="4515892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62650" y="3230017"/>
            <a:ext cx="57150" cy="571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067425" y="3230017"/>
            <a:ext cx="57150" cy="571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3230017"/>
            <a:ext cx="57150" cy="571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15" name="Picture 14" descr="img_4_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0275" y="2296567"/>
            <a:ext cx="1981200" cy="1981200"/>
          </a:xfrm>
          <a:prstGeom prst="rect">
            <a:avLst/>
          </a:prstGeom>
        </p:spPr>
      </p:pic>
      <p:cxnSp>
        <p:nvCxnSpPr>
          <p:cNvPr id="16" name="Connector 15"/>
          <p:cNvCxnSpPr/>
          <p:nvPr/>
        </p:nvCxnSpPr>
        <p:spPr>
          <a:xfrm>
            <a:off x="6257925" y="4306342"/>
            <a:ext cx="2500313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6257925" y="4515892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8786812" y="3230017"/>
            <a:ext cx="57150" cy="571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891588" y="3230017"/>
            <a:ext cx="57150" cy="571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8996362" y="3230017"/>
            <a:ext cx="57150" cy="571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21" name="Picture 20" descr="img_4_1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34438" y="2296567"/>
            <a:ext cx="1981200" cy="1981200"/>
          </a:xfrm>
          <a:prstGeom prst="rect">
            <a:avLst/>
          </a:prstGeom>
        </p:spPr>
      </p:pic>
      <p:cxnSp>
        <p:nvCxnSpPr>
          <p:cNvPr id="22" name="Connector 21"/>
          <p:cNvCxnSpPr/>
          <p:nvPr/>
        </p:nvCxnSpPr>
        <p:spPr>
          <a:xfrm>
            <a:off x="9082088" y="4306342"/>
            <a:ext cx="2500312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23" name="Rectangle 22"/>
          <p:cNvSpPr/>
          <p:nvPr/>
        </p:nvSpPr>
        <p:spPr>
          <a:xfrm>
            <a:off x="9082088" y="4515892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4" name="Title"/>
          <p:cNvSpPr txBox="1"/>
          <p:nvPr/>
        </p:nvSpPr>
        <p:spPr>
          <a:xfrm>
            <a:off x="609600" y="428625"/>
            <a:ext cx="8898076" cy="4381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希望を伝えれば、届いた候補から「ここにする」で決められる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550" y="4468267"/>
            <a:ext cx="1257455" cy="342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812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入口を選ぶ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9818" y="4539704"/>
            <a:ext cx="109597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4925467"/>
            <a:ext cx="1618559" cy="51330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9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チャットで話すか、</a:t>
            </a:r>
          </a:p>
          <a:p>
            <a:pPr algn="l">
              <a:lnSpc>
                <a:spcPts val="209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質問に答えるか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5712" y="4468267"/>
            <a:ext cx="1497675" cy="342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812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希望を伝える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13981" y="4539704"/>
            <a:ext cx="109597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33762" y="4925467"/>
            <a:ext cx="2252389" cy="51330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9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状況をそのまま書くか、</a:t>
            </a:r>
          </a:p>
          <a:p>
            <a:pPr algn="l">
              <a:lnSpc>
                <a:spcPts val="209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5つの質問にタップで答える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19875" y="4468267"/>
            <a:ext cx="1752755" cy="342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812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候補を絞り込む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8143" y="4539704"/>
            <a:ext cx="109597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57925" y="4925467"/>
            <a:ext cx="2515362" cy="51330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9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3件以内のカードが届き、</a:t>
            </a:r>
          </a:p>
          <a:p>
            <a:pPr algn="l">
              <a:lnSpc>
                <a:spcPts val="209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条件の変更も同じ会話で頼める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44038" y="4468267"/>
            <a:ext cx="1505105" cy="342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812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決めて向かう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62306" y="4539704"/>
            <a:ext cx="109597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82088" y="4925467"/>
            <a:ext cx="2151626" cy="51330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9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「ここにする」で決めて、</a:t>
            </a:r>
          </a:p>
          <a:p>
            <a:pPr algn="l">
              <a:lnSpc>
                <a:spcPts val="209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Google Maps で開く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5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9600" y="1390650"/>
            <a:ext cx="1771650" cy="3790950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438525" y="1390650"/>
            <a:ext cx="1771650" cy="3790950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267450" y="1390650"/>
            <a:ext cx="1771650" cy="3790950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9096375" y="1390650"/>
            <a:ext cx="1771650" cy="3790950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7" name="Title"/>
          <p:cNvSpPr txBox="1"/>
          <p:nvPr/>
        </p:nvSpPr>
        <p:spPr>
          <a:xfrm>
            <a:off x="609600" y="428625"/>
            <a:ext cx="7915370" cy="4381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起動から店舗詳細まで、画面は会話の流れに沿って進む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3420" y="2988915"/>
            <a:ext cx="1604010" cy="57715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起動画面の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スクリーンショット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を入れる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314950"/>
            <a:ext cx="772061" cy="2571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起動画面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5629275"/>
            <a:ext cx="1461611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maru が入口を尋ねる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2345" y="2988915"/>
            <a:ext cx="1604010" cy="57715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質問画面の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スクリーンショット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を入れる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8525" y="5314950"/>
            <a:ext cx="772061" cy="2571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質問画面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38525" y="5629275"/>
            <a:ext cx="143452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タップで5つに答える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1270" y="2988915"/>
            <a:ext cx="1604010" cy="57715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候補カードが並んだ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会話のスクリーンショット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を入れる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7450" y="5314950"/>
            <a:ext cx="1524917" cy="2571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会話と候補カード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7450" y="5629275"/>
            <a:ext cx="2033218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3件以内を同じ大きさで並べる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195" y="2988915"/>
            <a:ext cx="1604010" cy="57715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店舗詳細の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スクリーンショット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を入れる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6375" y="5314950"/>
            <a:ext cx="772061" cy="2571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店舗詳細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6375" y="5629275"/>
            <a:ext cx="1655088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「ここにする」で決める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6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609600" y="1400175"/>
            <a:ext cx="521970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4" name="Rectangle 3"/>
          <p:cNvSpPr/>
          <p:nvPr/>
        </p:nvSpPr>
        <p:spPr>
          <a:xfrm>
            <a:off x="3720108" y="2105025"/>
            <a:ext cx="2109192" cy="481012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581650" y="2586038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695950" y="2681288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09600" y="2700338"/>
            <a:ext cx="4476750" cy="7524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742950" y="3452812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676275" y="3548062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0" name="Connector 9"/>
          <p:cNvCxnSpPr/>
          <p:nvPr/>
        </p:nvCxnSpPr>
        <p:spPr>
          <a:xfrm>
            <a:off x="6362700" y="1400175"/>
            <a:ext cx="521970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11" name="Rectangle 10"/>
          <p:cNvSpPr/>
          <p:nvPr/>
        </p:nvSpPr>
        <p:spPr>
          <a:xfrm>
            <a:off x="9648676" y="2105025"/>
            <a:ext cx="1933724" cy="481012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1334750" y="2586038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11449050" y="2681288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362700" y="2700338"/>
            <a:ext cx="4476750" cy="7524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496050" y="3452812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429375" y="3548062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7" name="Connector 16"/>
          <p:cNvCxnSpPr/>
          <p:nvPr/>
        </p:nvCxnSpPr>
        <p:spPr>
          <a:xfrm>
            <a:off x="609600" y="3724275"/>
            <a:ext cx="52197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18" name="Rectangle 17"/>
          <p:cNvSpPr/>
          <p:nvPr/>
        </p:nvSpPr>
        <p:spPr>
          <a:xfrm>
            <a:off x="3508325" y="4564856"/>
            <a:ext cx="2320975" cy="481012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581650" y="5045869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5695950" y="5141119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09600" y="5160169"/>
            <a:ext cx="4476750" cy="481012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742950" y="5641181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76275" y="5736431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24" name="Connector 23"/>
          <p:cNvCxnSpPr/>
          <p:nvPr/>
        </p:nvCxnSpPr>
        <p:spPr>
          <a:xfrm>
            <a:off x="6362700" y="3724275"/>
            <a:ext cx="52197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pic>
        <p:nvPicPr>
          <p:cNvPr id="25" name="Picture 24" descr="img_6_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2700" y="4083844"/>
            <a:ext cx="419100" cy="41910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9292233" y="4564856"/>
            <a:ext cx="2290167" cy="481012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1334750" y="5045869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11449050" y="5141119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6362700" y="5160169"/>
            <a:ext cx="4476750" cy="481012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496050" y="5641181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6429375" y="5736431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" name="Title"/>
          <p:cNvSpPr txBox="1"/>
          <p:nvPr/>
        </p:nvSpPr>
        <p:spPr>
          <a:xfrm>
            <a:off x="609600" y="428625"/>
            <a:ext cx="9373874" cy="4381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 の AI は、変わった点だけ選び直し、足りない情報は聞き返す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1695450"/>
            <a:ext cx="1604010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場所が分からない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72508" y="2209800"/>
            <a:ext cx="1895618" cy="2571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近くで定食が食べたい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000" y="2805112"/>
            <a:ext cx="4357878" cy="5286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現在地が取れないので、</a:t>
            </a:r>
          </a:p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駅名か地名を教えてください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2700" y="1695450"/>
            <a:ext cx="1405890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条件が変わった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01076" y="2209800"/>
            <a:ext cx="1713131" cy="2571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やっぱり個室がいい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5100" y="2805112"/>
            <a:ext cx="4357878" cy="5286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和食の定食・4,000円以内はそのままに、</a:t>
            </a:r>
          </a:p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個室で選び直しました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155281"/>
            <a:ext cx="1199876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比べてほしい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60725" y="4669631"/>
            <a:ext cx="2115872" cy="2571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1件目と2件目の違いは？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2000" y="5264944"/>
            <a:ext cx="3777758" cy="2571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カードはそのままに、違いを文章で答えます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7050" y="4155281"/>
            <a:ext cx="1405890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合うお店がない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44633" y="4669631"/>
            <a:ext cx="2083832" cy="2571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この近くでジンギスカン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15100" y="5264944"/>
            <a:ext cx="3777758" cy="2571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数を埋めずに、見つからなかったと伝えます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143625"/>
            <a:ext cx="1564541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吹き出しの文面は説明用の例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7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9600" y="1390650"/>
            <a:ext cx="2857500" cy="4574381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4" name="Picture 3" descr="img_7_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421" y="2685901"/>
            <a:ext cx="685800" cy="685800"/>
          </a:xfrm>
          <a:prstGeom prst="rect">
            <a:avLst/>
          </a:prstGeom>
        </p:spPr>
      </p:pic>
      <p:pic>
        <p:nvPicPr>
          <p:cNvPr id="5" name="Picture 4" descr="img_7_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4991" y="2685901"/>
            <a:ext cx="685800" cy="685800"/>
          </a:xfrm>
          <a:prstGeom prst="rect">
            <a:avLst/>
          </a:prstGeom>
        </p:spPr>
      </p:pic>
      <p:pic>
        <p:nvPicPr>
          <p:cNvPr id="6" name="Picture 5" descr="img_7_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76041" y="2685901"/>
            <a:ext cx="685800" cy="685800"/>
          </a:xfrm>
          <a:prstGeom prst="rect">
            <a:avLst/>
          </a:prstGeom>
        </p:spPr>
      </p:pic>
      <p:pic>
        <p:nvPicPr>
          <p:cNvPr id="7" name="Picture 6" descr="img_7_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050" y="3742134"/>
            <a:ext cx="1333500" cy="685800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781050" y="4803130"/>
            <a:ext cx="25146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9" name="Rectangle 8"/>
          <p:cNvSpPr/>
          <p:nvPr/>
        </p:nvSpPr>
        <p:spPr>
          <a:xfrm>
            <a:off x="3590925" y="3554016"/>
            <a:ext cx="533400" cy="19050"/>
          </a:xfrm>
          <a:prstGeom prst="rect">
            <a:avLst/>
          </a:prstGeom>
          <a:solidFill>
            <a:srgbClr val="9A999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Freeform 9"/>
          <p:cNvSpPr/>
          <p:nvPr/>
        </p:nvSpPr>
        <p:spPr>
          <a:xfrm>
            <a:off x="4124325" y="3496866"/>
            <a:ext cx="95250" cy="133350"/>
          </a:xfrm>
          <a:custGeom>
            <a:avLst/>
            <a:gdLst/>
            <a:ahLst/>
            <a:cxnLst/>
            <a:rect l="l" t="t" r="r" b="b"/>
            <a:pathLst>
              <a:path w="95250" h="133350">
                <a:moveTo>
                  <a:pt x="0" y="0"/>
                </a:moveTo>
                <a:lnTo>
                  <a:pt x="0" y="133350"/>
                </a:lnTo>
                <a:lnTo>
                  <a:pt x="95250" y="66675"/>
                </a:lnTo>
                <a:close/>
              </a:path>
            </a:pathLst>
          </a:custGeom>
          <a:solidFill>
            <a:srgbClr val="9A999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Freeform 10"/>
          <p:cNvSpPr/>
          <p:nvPr/>
        </p:nvSpPr>
        <p:spPr>
          <a:xfrm>
            <a:off x="3590925" y="3725466"/>
            <a:ext cx="95250" cy="133350"/>
          </a:xfrm>
          <a:custGeom>
            <a:avLst/>
            <a:gdLst/>
            <a:ahLst/>
            <a:cxnLst/>
            <a:rect l="l" t="t" r="r" b="b"/>
            <a:pathLst>
              <a:path w="95250" h="133350">
                <a:moveTo>
                  <a:pt x="95250" y="0"/>
                </a:moveTo>
                <a:lnTo>
                  <a:pt x="95250" y="133350"/>
                </a:lnTo>
                <a:lnTo>
                  <a:pt x="0" y="66675"/>
                </a:lnTo>
                <a:close/>
              </a:path>
            </a:pathLst>
          </a:custGeom>
          <a:solidFill>
            <a:srgbClr val="9A999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686175" y="3782616"/>
            <a:ext cx="533400" cy="19050"/>
          </a:xfrm>
          <a:prstGeom prst="rect">
            <a:avLst/>
          </a:prstGeom>
          <a:solidFill>
            <a:srgbClr val="9A999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343400" y="1390650"/>
            <a:ext cx="4152900" cy="4574381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14" name="Picture 13" descr="img_7_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14850" y="2275731"/>
            <a:ext cx="1333500" cy="685800"/>
          </a:xfrm>
          <a:prstGeom prst="rect">
            <a:avLst/>
          </a:prstGeom>
        </p:spPr>
      </p:pic>
      <p:pic>
        <p:nvPicPr>
          <p:cNvPr id="15" name="Picture 14" descr="img_7_2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43600" y="2275731"/>
            <a:ext cx="1333500" cy="685800"/>
          </a:xfrm>
          <a:prstGeom prst="rect">
            <a:avLst/>
          </a:prstGeom>
        </p:spPr>
      </p:pic>
      <p:pic>
        <p:nvPicPr>
          <p:cNvPr id="16" name="Picture 15" descr="img_7_2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72350" y="2275731"/>
            <a:ext cx="685800" cy="6858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4514850" y="3331964"/>
            <a:ext cx="1866900" cy="60960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457950" y="3331964"/>
            <a:ext cx="1866900" cy="60960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4514850" y="4017764"/>
            <a:ext cx="1866900" cy="60960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457950" y="4017764"/>
            <a:ext cx="1866900" cy="60960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21" name="Connector 20"/>
          <p:cNvCxnSpPr/>
          <p:nvPr/>
        </p:nvCxnSpPr>
        <p:spPr>
          <a:xfrm>
            <a:off x="4514850" y="4784527"/>
            <a:ext cx="38100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22" name="Rectangle 21"/>
          <p:cNvSpPr/>
          <p:nvPr/>
        </p:nvSpPr>
        <p:spPr>
          <a:xfrm>
            <a:off x="8619976" y="2698998"/>
            <a:ext cx="533400" cy="19050"/>
          </a:xfrm>
          <a:prstGeom prst="rect">
            <a:avLst/>
          </a:prstGeom>
          <a:solidFill>
            <a:srgbClr val="9A999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Freeform 22"/>
          <p:cNvSpPr/>
          <p:nvPr/>
        </p:nvSpPr>
        <p:spPr>
          <a:xfrm>
            <a:off x="9153376" y="2641848"/>
            <a:ext cx="95250" cy="133350"/>
          </a:xfrm>
          <a:custGeom>
            <a:avLst/>
            <a:gdLst/>
            <a:ahLst/>
            <a:cxnLst/>
            <a:rect l="l" t="t" r="r" b="b"/>
            <a:pathLst>
              <a:path w="95250" h="133350">
                <a:moveTo>
                  <a:pt x="0" y="0"/>
                </a:moveTo>
                <a:lnTo>
                  <a:pt x="0" y="133350"/>
                </a:lnTo>
                <a:lnTo>
                  <a:pt x="95250" y="66675"/>
                </a:lnTo>
                <a:close/>
              </a:path>
            </a:pathLst>
          </a:custGeom>
          <a:solidFill>
            <a:srgbClr val="9A999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620125" y="5033814"/>
            <a:ext cx="533400" cy="19050"/>
          </a:xfrm>
          <a:prstGeom prst="rect">
            <a:avLst/>
          </a:prstGeom>
          <a:solidFill>
            <a:srgbClr val="9A999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Freeform 24"/>
          <p:cNvSpPr/>
          <p:nvPr/>
        </p:nvSpPr>
        <p:spPr>
          <a:xfrm>
            <a:off x="9153525" y="4976664"/>
            <a:ext cx="95250" cy="133350"/>
          </a:xfrm>
          <a:custGeom>
            <a:avLst/>
            <a:gdLst/>
            <a:ahLst/>
            <a:cxnLst/>
            <a:rect l="l" t="t" r="r" b="b"/>
            <a:pathLst>
              <a:path w="95250" h="133350">
                <a:moveTo>
                  <a:pt x="0" y="0"/>
                </a:moveTo>
                <a:lnTo>
                  <a:pt x="0" y="133350"/>
                </a:lnTo>
                <a:lnTo>
                  <a:pt x="95250" y="66675"/>
                </a:lnTo>
                <a:close/>
              </a:path>
            </a:pathLst>
          </a:custGeom>
          <a:solidFill>
            <a:srgbClr val="9A999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9372600" y="1390650"/>
            <a:ext cx="2209800" cy="2220516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27" name="Picture 26" descr="img_7_22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34600" y="1822698"/>
            <a:ext cx="685800" cy="685800"/>
          </a:xfrm>
          <a:prstGeom prst="rect">
            <a:avLst/>
          </a:prstGeom>
        </p:spPr>
      </p:pic>
      <p:cxnSp>
        <p:nvCxnSpPr>
          <p:cNvPr id="28" name="Connector 27"/>
          <p:cNvCxnSpPr/>
          <p:nvPr/>
        </p:nvCxnSpPr>
        <p:spPr>
          <a:xfrm>
            <a:off x="9544050" y="2883694"/>
            <a:ext cx="18669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29" name="Rectangle 28"/>
          <p:cNvSpPr/>
          <p:nvPr/>
        </p:nvSpPr>
        <p:spPr>
          <a:xfrm>
            <a:off x="9372600" y="3744516"/>
            <a:ext cx="2209800" cy="2220516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0" name="Picture 29" descr="img_7_23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10750" y="4176564"/>
            <a:ext cx="1333500" cy="685800"/>
          </a:xfrm>
          <a:prstGeom prst="rect">
            <a:avLst/>
          </a:prstGeom>
        </p:spPr>
      </p:pic>
      <p:cxnSp>
        <p:nvCxnSpPr>
          <p:cNvPr id="31" name="Connector 30"/>
          <p:cNvCxnSpPr/>
          <p:nvPr/>
        </p:nvCxnSpPr>
        <p:spPr>
          <a:xfrm>
            <a:off x="9544050" y="5237559"/>
            <a:ext cx="18669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32" name="Rectangle 31"/>
          <p:cNvSpPr/>
          <p:nvPr/>
        </p:nvSpPr>
        <p:spPr>
          <a:xfrm>
            <a:off x="609600" y="6165056"/>
            <a:ext cx="76200" cy="762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4343400" y="6165056"/>
            <a:ext cx="76200" cy="762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9372600" y="6165056"/>
            <a:ext cx="76200" cy="762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itle"/>
          <p:cNvSpPr txBox="1"/>
          <p:nvPr/>
        </p:nvSpPr>
        <p:spPr>
          <a:xfrm>
            <a:off x="609600" y="428625"/>
            <a:ext cx="8410980" cy="4381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 は iPhone アプリと Cloudflare Workers の2つで動く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1050" y="2257276"/>
            <a:ext cx="1343823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iPhone アプリ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7151" y="3409801"/>
            <a:ext cx="76648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React Native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81788" y="3409801"/>
            <a:ext cx="31220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Expo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89174" y="3409801"/>
            <a:ext cx="659535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TypeScript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011" y="4466034"/>
            <a:ext cx="104942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会話のキャッシュ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050" y="4903143"/>
            <a:ext cx="192920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SecureStore </a:t>
            </a: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端末の資格情報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8393" y="3091160"/>
            <a:ext cx="613565" cy="3219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HTTPS で</a:t>
            </a:r>
          </a:p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発言を送る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8393" y="3925491"/>
            <a:ext cx="613565" cy="3219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SSE で</a:t>
            </a:r>
          </a:p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結果を返す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004" y="2999631"/>
            <a:ext cx="1163193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Cloudflare Workers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64032" y="2999631"/>
            <a:ext cx="892635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HTTP の受け口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85483" y="2999631"/>
            <a:ext cx="659535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TypeScript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29150" y="3436739"/>
            <a:ext cx="1627227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ConversationHistoryDO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29150" y="3646289"/>
            <a:ext cx="296418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会話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72250" y="3436739"/>
            <a:ext cx="707672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ThreadDO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72250" y="3646289"/>
            <a:ext cx="591122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AI の実行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29150" y="4122539"/>
            <a:ext cx="1318903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SavedReferenceDO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29150" y="4332089"/>
            <a:ext cx="712470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保存と決定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72250" y="4122539"/>
            <a:ext cx="915853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TelemetryDO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72250" y="4332089"/>
            <a:ext cx="573786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運用ログ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14850" y="4884539"/>
            <a:ext cx="337981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Durable Objects </a:t>
            </a: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ユーザーごとに状態を分けて持つ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71098" y="2236143"/>
            <a:ext cx="726555" cy="3219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ThreadDO が</a:t>
            </a:r>
          </a:p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呼ぶ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32071" y="4570958"/>
            <a:ext cx="404610" cy="3219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Tool が</a:t>
            </a:r>
          </a:p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呼ぶ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47257" y="2546598"/>
            <a:ext cx="46048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OpenAI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44050" y="2983706"/>
            <a:ext cx="163558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gpt-5.6-luna </a:t>
            </a: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会話と提案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23933" y="4900464"/>
            <a:ext cx="1306985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ホットペッパーグルメ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44050" y="5337572"/>
            <a:ext cx="1914966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グルメサーチAPI </a:t>
            </a: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店舗と写真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2000" y="6098381"/>
            <a:ext cx="209946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端末に置くのはキャッシュだけ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95800" y="6098381"/>
            <a:ext cx="2458712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切れても実行 ID で結果を取り直せる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525000" y="6098381"/>
            <a:ext cx="2082284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API キーは Worker だけが持つ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2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pic>
        <p:nvPicPr>
          <p:cNvPr id="3" name="Picture 2" descr="img_8_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390650"/>
            <a:ext cx="10972800" cy="3810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09600" y="2438400"/>
            <a:ext cx="1619250" cy="1619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2609850" y="2343150"/>
            <a:ext cx="3143250" cy="18097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2762250" y="2963466"/>
            <a:ext cx="2838450" cy="295275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2762250" y="3334941"/>
            <a:ext cx="2838450" cy="295275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134100" y="2438400"/>
            <a:ext cx="1714500" cy="1619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6286500" y="3045619"/>
            <a:ext cx="1409700" cy="295275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229600" y="2438400"/>
            <a:ext cx="1619250" cy="1619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0134600" y="2438400"/>
            <a:ext cx="1447800" cy="16192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2" name="Connector 11"/>
          <p:cNvCxnSpPr/>
          <p:nvPr/>
        </p:nvCxnSpPr>
        <p:spPr>
          <a:xfrm>
            <a:off x="609600" y="5624512"/>
            <a:ext cx="1097280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13" name="Title"/>
          <p:cNvSpPr txBox="1"/>
          <p:nvPr/>
        </p:nvSpPr>
        <p:spPr>
          <a:xfrm>
            <a:off x="609600" y="428625"/>
            <a:ext cx="9004256" cy="4381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AI は3つの Tool だけを使い、検証に通った応答だけを確定する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2850356"/>
            <a:ext cx="455069" cy="304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75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発言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3231356"/>
            <a:ext cx="1386078" cy="40719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受け付けて</a:t>
            </a:r>
          </a:p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会話に保存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2250" y="2582466"/>
            <a:ext cx="1540550" cy="304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75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Think のループ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8450" y="3020616"/>
            <a:ext cx="1259622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search_places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8450" y="3392091"/>
            <a:ext cx="1641312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get_place_details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62250" y="3706416"/>
            <a:ext cx="1689604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店舗情報を読み取る Tool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6500" y="2664619"/>
            <a:ext cx="455069" cy="304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75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2700" y="3102769"/>
            <a:ext cx="68708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respond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6500" y="3417094"/>
            <a:ext cx="1485138" cy="40719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質問・説明・提案の</a:t>
            </a:r>
          </a:p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どれか1つ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2000" y="2850356"/>
            <a:ext cx="455069" cy="304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75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0" y="3231356"/>
            <a:ext cx="1386078" cy="40719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根拠・新しさ・</a:t>
            </a:r>
          </a:p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必須条件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2850356"/>
            <a:ext cx="455069" cy="304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75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確定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3231356"/>
            <a:ext cx="1207770" cy="40719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1回だけ</a:t>
            </a:r>
          </a:p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SSE でアプリへ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24278" y="1466850"/>
            <a:ext cx="100949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最大6回・60秒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73826" y="4819650"/>
            <a:ext cx="2330398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通らなければ差し戻す（2回まで）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5786438"/>
            <a:ext cx="1723192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毎回 Tool を呼ばせる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091238"/>
            <a:ext cx="195087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文章だけの応答は確定しない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56050" y="5786438"/>
            <a:ext cx="1980438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読み取りと確定を分ける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56050" y="6091238"/>
            <a:ext cx="2540746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店舗を読んだ呼び出しでは確定しない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02501" y="5786438"/>
            <a:ext cx="2515362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カードの事実は取得データから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02501" y="6091238"/>
            <a:ext cx="25452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営業時間や予算をモデルに書かせない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3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pic>
        <p:nvPicPr>
          <p:cNvPr id="3" name="Picture 2" descr="img_9_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390650"/>
            <a:ext cx="10972800" cy="4191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905375" y="2438400"/>
            <a:ext cx="2381250" cy="2286000"/>
          </a:xfrm>
          <a:prstGeom prst="rect">
            <a:avLst/>
          </a:prstGeom>
          <a:noFill/>
          <a:ln w="9525">
            <a:solidFill>
              <a:srgbClr val="6B6A66"/>
            </a:solidFill>
          </a:ln>
        </p:spPr>
        <p:txBody>
          <a:bodyPr rtlCol="0" anchor="ctr"/>
          <a:lstStyle/>
          <a:p/>
        </p:txBody>
      </p:sp>
      <p:pic>
        <p:nvPicPr>
          <p:cNvPr id="5" name="Picture 4" descr="img_9_2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3100" y="2708970"/>
            <a:ext cx="685800" cy="839986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609600" y="1400175"/>
            <a:ext cx="344805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7" name="Rectangle 6"/>
          <p:cNvSpPr/>
          <p:nvPr/>
        </p:nvSpPr>
        <p:spPr>
          <a:xfrm>
            <a:off x="609600" y="1890712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8" name="Connector 7"/>
          <p:cNvCxnSpPr/>
          <p:nvPr/>
        </p:nvCxnSpPr>
        <p:spPr>
          <a:xfrm>
            <a:off x="8134350" y="1400175"/>
            <a:ext cx="344805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9" name="Rectangle 8"/>
          <p:cNvSpPr/>
          <p:nvPr/>
        </p:nvSpPr>
        <p:spPr>
          <a:xfrm>
            <a:off x="8134350" y="1890712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0" name="Connector 9"/>
          <p:cNvCxnSpPr/>
          <p:nvPr/>
        </p:nvCxnSpPr>
        <p:spPr>
          <a:xfrm>
            <a:off x="609600" y="3914775"/>
            <a:ext cx="344805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11" name="Rectangle 10"/>
          <p:cNvSpPr/>
          <p:nvPr/>
        </p:nvSpPr>
        <p:spPr>
          <a:xfrm>
            <a:off x="609600" y="4405312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2" name="Connector 11"/>
          <p:cNvCxnSpPr/>
          <p:nvPr/>
        </p:nvCxnSpPr>
        <p:spPr>
          <a:xfrm>
            <a:off x="8134350" y="3914775"/>
            <a:ext cx="344805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8134350" y="4405312"/>
            <a:ext cx="247650" cy="2476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Title"/>
          <p:cNvSpPr txBox="1"/>
          <p:nvPr/>
        </p:nvSpPr>
        <p:spPr>
          <a:xfrm>
            <a:off x="609600" y="428625"/>
            <a:ext cx="8894981" cy="4381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曖昧な一言からその人に合う店を選び、共有までつなげていく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32966" y="3663255"/>
            <a:ext cx="926068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いまの ima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51" y="4025205"/>
            <a:ext cx="1940350" cy="4143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希望を伝えると、理由付きで</a:t>
            </a:r>
          </a:p>
          <a:p>
            <a:pPr algn="ctr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3件以内に絞る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1562100"/>
            <a:ext cx="1956602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プロンプトの上手さに頼らない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1550" y="1847850"/>
            <a:ext cx="2871978" cy="3333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曖昧な一言から意図を汲む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818" y="1914525"/>
            <a:ext cx="109597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2276475"/>
            <a:ext cx="3605022" cy="7161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「いい感じのとこ」のような抽象的な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言葉からも、エージェントが意図を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読み取って提案する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4350" y="1562100"/>
            <a:ext cx="1956602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コンテキストの構造を設計する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96300" y="1847850"/>
            <a:ext cx="2396490" cy="3333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その人に合う店を選ぶ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4568" y="1914525"/>
            <a:ext cx="109597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4350" y="2276475"/>
            <a:ext cx="3605022" cy="7161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好みや同行者、これまでの決定を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構造化して渡し、パーソナライズ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された意味のある店を提案する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4076700"/>
            <a:ext cx="2511338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ほかのアプリやプラットフォームと連携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1550" y="4362450"/>
            <a:ext cx="2634234" cy="3333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提案をそのまま共有する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818" y="4429125"/>
            <a:ext cx="109597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4791075"/>
            <a:ext cx="3605022" cy="4723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エージェントが選んだ店と理由を、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同行者へ渡しやすくする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4350" y="4076700"/>
            <a:ext cx="573786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スケール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96300" y="4362450"/>
            <a:ext cx="2389370" cy="3333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サービスとして広げる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6589" y="4429125"/>
            <a:ext cx="16779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4350" y="4791075"/>
            <a:ext cx="3605022" cy="4723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個人の検証版から、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誰でも使える公開サービスへ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143625"/>
            <a:ext cx="827632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番号は「外出中の『次どこ行く？』」のページのつまずきに対応／本資料は consulting-pptx-skill（github.com/carnot-tech/consulting-pptx-skill）で作成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ima</dc:title>
  <dc:subject/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