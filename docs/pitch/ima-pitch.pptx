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652861"/>
            <a:ext cx="1309688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3200549"/>
            <a:ext cx="1465064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2950" y="3691086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76275" y="3786336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232297" y="4305300"/>
            <a:ext cx="2425303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9950" y="47958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4250" y="48910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410051"/>
            <a:ext cx="3048000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42950" y="590058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275" y="599583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76700" y="1562398"/>
          <a:ext cx="7505700" cy="4743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2847975"/>
                <a:gridCol w="2847975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つまずき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起きていること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なぜ起きるか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839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「どこでもいいよ」と任され、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1人で地図と検索を行き来する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同行者の気分・体力・予算を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聞けないまま店選びを任され、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探す役が推し量るしかない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検索結果が一覧で並び、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比べているうちに時間が過ぎる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検索サービスは条件に合う店を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広く並べ、同行者に合う数件へ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絞る作業は探す役に残る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440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評価や写真を見比べても、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「なぜここか」を同行者に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説明しにくい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候補ごとに、同行者のどの希望に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合うかが添えられていない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076700" y="2593777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76700" y="403621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076700" y="547642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外出中の「次どこ行く？」は探す負担が1人に集まり、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候補を前に決めきれない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290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想定する場面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40521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2776686"/>
            <a:ext cx="10245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324374"/>
            <a:ext cx="11861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5976" y="40576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747" y="4429125"/>
            <a:ext cx="218474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6240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3387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0370" y="2612827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0550" y="2459534"/>
            <a:ext cx="1015841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0370" y="405526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0550" y="390197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0370" y="549547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550" y="534218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296120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29545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24795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287018"/>
            <a:ext cx="2378422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077593"/>
            <a:ext cx="2379613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811018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76275" y="4906268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53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5735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74307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05100" y="4973241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0825" y="5628531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076700" y="1562398"/>
          <a:ext cx="7505700" cy="4485978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3543300"/>
                <a:gridCol w="21526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ima の特徴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ユーザーと ima の動き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対応するつまずき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360736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希望をそのまま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受け取る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ユーザーは状況をそのまま書くか、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5つの質問にタップで答えて探し始める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場所など提案に欠かせない情報が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足りないときだけ、AIが原則1問聞き返す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552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3件以内に絞る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AIがホットペッパーグルメの掲載店から、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主提案1件と別案最大2件をカードで並べる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ユーザーが店舗詳細を見て、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「ここにする」で決める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35061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理由を添える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AIが、重視した希望と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それに合う店舗情報を短く添える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AIが、掲載情報で確かめた事実と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推測を分けて書く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9563100" y="2549872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563100" y="3905696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563100" y="5261074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使い方の例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204847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2419945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0393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3410843"/>
            <a:ext cx="2135993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201418"/>
            <a:ext cx="2137231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1件目は定食があり、掲載の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予算目安が4,000円以内です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325" y="5097066"/>
            <a:ext cx="4649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3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307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307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269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825" y="5097066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825" y="5363766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0444" y="5685681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950" y="2433786"/>
            <a:ext cx="8116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6950" y="2654647"/>
            <a:ext cx="905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6770" y="2568922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3789611"/>
            <a:ext cx="96538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4010471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6770" y="3924746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6950" y="5144988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6950" y="5365849"/>
            <a:ext cx="80843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770" y="5280124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143625"/>
            <a:ext cx="3342049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店舗データ：Powered by </a:t>
            </a:r>
            <a:r>
              <a:rPr sz="900" b="0" i="0" u="sng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 Webサービス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1828800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4291012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6753225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9215438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09600" y="2181523"/>
            <a:ext cx="11239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828800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291012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753225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215438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9600" y="3248323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828800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4291012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53225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9215438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09600" y="4779318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1828800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4291012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6753225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215438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ユーザーは入口を選んで希望を伝え、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届いた候補から「ここにする」で決める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1586" y="17433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4862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6198" y="1743373"/>
            <a:ext cx="108363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075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8411" y="1743373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候補を絞り込む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9288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0623" y="17433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593479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950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8162" y="2595414"/>
            <a:ext cx="20042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チャット、または5つの質問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0375" y="2595414"/>
            <a:ext cx="1287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588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889921"/>
            <a:ext cx="7287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85950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「チャットで話す」か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「質問に答える」を選ぶ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8162" y="3648075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予算・雰囲気に答える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0375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条件の追加・変更・比較を、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同じ会話のまま頼む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588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「店舗詳細を見る」から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5420916"/>
            <a:ext cx="3505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5950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案内役の犬 maru が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起動のたびに入口を尋ねる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8162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質問の回答を1文にまとめ、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会話の最初の発言として送る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0375" y="5179070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地名がなければ現在地の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1km圏から3km圏まで広げて、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主提案1件と別案最大2件を返す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72588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決めたお店を保存一覧に残し、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Google Maps や共有へ進める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3424238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424238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238875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6238875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9053512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053512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の主要画面は、起動画面での入口の選択から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店舗詳細の「ここにする」までを順につなぐ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5372398"/>
            <a:ext cx="235175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がチャットか質問かを尋ねる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5651004"/>
            <a:ext cx="18022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選んだ入口へそのまま進む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238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012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5688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誰と・食べたいもの・系統・予算・雰囲気をタップで答える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5688" y="5872460"/>
            <a:ext cx="202578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答えは1文になって会話へ渡る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8875" y="1629073"/>
            <a:ext cx="144551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3650" y="3285530"/>
            <a:ext cx="1256538" cy="775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候補カードが並んだ会話の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325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主提案と別案を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同じ大きさのカードで並べる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0325" y="5872460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カードから保存・地図・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店舗詳細へ進む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3512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8288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4962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営業時間・定休日・アクセス・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予算を出典つきで表示する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4962" y="5872460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47168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80593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75843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389114"/>
            <a:ext cx="3048000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412253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421778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85825" y="4431060"/>
            <a:ext cx="2771775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09950" y="4921597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524250" y="5016847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9600" y="5230118"/>
            <a:ext cx="3048000" cy="9763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2950" y="620643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76275" y="6301680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0750"/>
                <a:gridCol w="53149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場面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 の判断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6238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場所の指定がない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現在地が使えれば聞き返さず、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周辺を1km圏から3km圏まで広げて探す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現在地が使えなければ理由を伝え、駅名や地名を尋ねる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10326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条件が変わった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変わっていない希望を引き継ぐ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変更点が分かれば選び直し、分からなければ聞き返す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06203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説明や比較を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求められた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カードを出し直さず、メッセージで答える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69636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条件に合う店がない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条件に合わない店で数を埋めず、見つからなかったことを伝える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は、変わった点だけを反映して選び直し、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足りない情報や見つからないことは言葉で伝える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629073"/>
            <a:ext cx="233705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条件を変えたときの会話の例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4681" y="2099518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470993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141464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512939"/>
            <a:ext cx="2832354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4183410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4554885"/>
            <a:ext cx="254508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やっぱり個室があるところがいい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982468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353943"/>
            <a:ext cx="2832354" cy="723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そのままに、個室のある店で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選び直しました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4563814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4" name="Picture 3" descr="img_7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400598"/>
            <a:ext cx="1676400" cy="167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4438948"/>
            <a:ext cx="1065461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23900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7225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8" name="Picture 7" descr="img_7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72" y="2400598"/>
            <a:ext cx="1676400" cy="1676400"/>
          </a:xfrm>
          <a:prstGeom prst="rect">
            <a:avLst/>
          </a:prstGeom>
        </p:spPr>
      </p:pic>
      <p:pic>
        <p:nvPicPr>
          <p:cNvPr id="9" name="Picture 8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2344" y="2400598"/>
            <a:ext cx="1676400" cy="1676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740944" y="4438948"/>
            <a:ext cx="912614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85524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8856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97264" y="1971973"/>
            <a:ext cx="60849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14" name="Picture 13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8664" y="2400598"/>
            <a:ext cx="1676400" cy="1676400"/>
          </a:xfrm>
          <a:prstGeom prst="rect">
            <a:avLst/>
          </a:prstGeom>
        </p:spPr>
      </p:pic>
      <p:pic>
        <p:nvPicPr>
          <p:cNvPr id="15" name="Picture 14" descr="img_7_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174" y="2400598"/>
            <a:ext cx="1676400" cy="167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051774" y="4438948"/>
            <a:ext cx="1066949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6607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9939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img_7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833" y="2400598"/>
            <a:ext cx="1676400" cy="1676400"/>
          </a:xfrm>
          <a:prstGeom prst="rect">
            <a:avLst/>
          </a:prstGeom>
        </p:spPr>
      </p:pic>
      <p:pic>
        <p:nvPicPr>
          <p:cNvPr id="20" name="Picture 19" descr="img_7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2343" y="2400598"/>
            <a:ext cx="1676400" cy="1676400"/>
          </a:xfrm>
          <a:prstGeom prst="rect">
            <a:avLst/>
          </a:prstGeom>
        </p:spPr>
      </p:pic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は入口から決定までの場面ごとに姿を変え、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がいま何をしているかを伝える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起動画面と質問画面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096048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375" y="4524673"/>
            <a:ext cx="90919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始める？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5272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5272" y="4448473"/>
            <a:ext cx="1508665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質問の横で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虫眼鏡をのぞく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0944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答え終えたとき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5719" y="4524673"/>
            <a:ext cx="75023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探してくる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わん！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7264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会話画面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7264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検索中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7264" y="4448473"/>
            <a:ext cx="7547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走って探す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774" y="4096048"/>
            <a:ext cx="65922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候補0件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6549" y="4524673"/>
            <a:ext cx="910745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見つから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なかったわん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1774" y="5129510"/>
            <a:ext cx="1497211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検索結果が0件の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ときだけ言う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6433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失敗・取り消し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6433" y="4448473"/>
            <a:ext cx="1059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困った顔になる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0943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決定後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0943" y="4448473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喜ぶ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8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76962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905000" cy="417165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762000" y="3088184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2000" y="3677245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62000" y="4266307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62000" y="4855369"/>
            <a:ext cx="16002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2590800" y="4025354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Freeform 9"/>
          <p:cNvSpPr/>
          <p:nvPr/>
        </p:nvSpPr>
        <p:spPr>
          <a:xfrm>
            <a:off x="2971800" y="39682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2590800" y="417775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686050" y="4234904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143250" y="2133898"/>
            <a:ext cx="2762250" cy="417165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295650" y="3083421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95650" y="3713857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295650" y="4344293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295650" y="4974729"/>
            <a:ext cx="2457450" cy="554236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81700" y="3336727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Freeform 18"/>
          <p:cNvSpPr/>
          <p:nvPr/>
        </p:nvSpPr>
        <p:spPr>
          <a:xfrm>
            <a:off x="6362700" y="3279577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81700" y="5479703"/>
            <a:ext cx="3810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Freeform 20"/>
          <p:cNvSpPr/>
          <p:nvPr/>
        </p:nvSpPr>
        <p:spPr>
          <a:xfrm>
            <a:off x="6362700" y="5422553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534150" y="2133898"/>
            <a:ext cx="1771650" cy="202867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6686550" y="2908697"/>
            <a:ext cx="14668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6534150" y="4276874"/>
            <a:ext cx="1771650" cy="202867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6686550" y="5051673"/>
            <a:ext cx="14668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686800" y="1971973"/>
            <a:ext cx="28956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27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は iPhone アプリと Cloudflare Workers の2つをデプロイし、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会話・実行・保存・運用ログを別々の Durable Objects に持つ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1629073"/>
            <a:ext cx="161855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システム全体の構成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286298"/>
            <a:ext cx="121133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 アプリ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619673"/>
            <a:ext cx="1683258" cy="3604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 0.86</a:t>
            </a:r>
          </a:p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 57・TypeScript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178671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画面と会話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00" y="3388221"/>
            <a:ext cx="156454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起動画面から店舗詳細まで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" y="3767733"/>
            <a:ext cx="47023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SQLite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" y="3977283"/>
            <a:ext cx="13783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直近3会話のキャッシュ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4356795"/>
            <a:ext cx="8446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" y="4566345"/>
            <a:ext cx="117681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端末ごとの資格情報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4945856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位置情報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5155406"/>
            <a:ext cx="130435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ユーザーの操作で取得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22068" y="3722489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発言を送る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2068" y="4377779"/>
            <a:ext cx="613565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で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結果を返す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650" y="2286298"/>
            <a:ext cx="170059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5650" y="2619673"/>
            <a:ext cx="2574798" cy="36046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を Hono 4 で受け、</a:t>
            </a:r>
          </a:p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認証・入力検証をする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00425" y="3169146"/>
            <a:ext cx="1627227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00425" y="3369171"/>
            <a:ext cx="143576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会話・発言・実行の受付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0425" y="3799582"/>
            <a:ext cx="707672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00425" y="3999607"/>
            <a:ext cx="2105037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会話の実行（Think・当日5時まで）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0425" y="4430018"/>
            <a:ext cx="131890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00425" y="4630043"/>
            <a:ext cx="156454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保存したお店・決定・条件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0425" y="5060454"/>
            <a:ext cx="91585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00425" y="5260479"/>
            <a:ext cx="16358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運用イベント（7日で削除）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29220" y="2873871"/>
            <a:ext cx="581061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が呼ぶ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7446" y="5016847"/>
            <a:ext cx="404610" cy="32191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が</a:t>
            </a:r>
          </a:p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呼ぶ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86550" y="2286298"/>
            <a:ext cx="66232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86550" y="2619673"/>
            <a:ext cx="50305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外部 API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86550" y="2999184"/>
            <a:ext cx="85332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86550" y="3208734"/>
            <a:ext cx="125250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reasoning effort: 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86550" y="4429274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ホットペッパー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86550" y="4762649"/>
            <a:ext cx="50305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外部 API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86550" y="5142161"/>
            <a:ext cx="1078373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86550" y="5351711"/>
            <a:ext cx="1435763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13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店舗の検索・詳細・写真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1629073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この構成にした理由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58250" y="2200573"/>
            <a:ext cx="2784062" cy="6819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会話と保存の元データは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サーバーに置き、端末の SQLite は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キャッシュに留める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58250" y="3080593"/>
            <a:ext cx="2784062" cy="6819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サーバーは生成を受け付けると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実行 ID を返し、通信が切れても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アプリはその ID で結果を取り直す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58250" y="3960614"/>
            <a:ext cx="2784062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会話と保存はユーザーごとの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 に分けて持つ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58250" y="4604445"/>
            <a:ext cx="2784062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API キーは Worker の secret に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だけ置き、アプリには入れない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65722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14848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752475" y="2742307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9600" y="3048298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Freeform 6"/>
          <p:cNvSpPr/>
          <p:nvPr/>
        </p:nvSpPr>
        <p:spPr>
          <a:xfrm>
            <a:off x="752475" y="3687663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000500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Freeform 8"/>
          <p:cNvSpPr/>
          <p:nvPr/>
        </p:nvSpPr>
        <p:spPr>
          <a:xfrm>
            <a:off x="752475" y="4646712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09600" y="4940796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Freeform 10"/>
          <p:cNvSpPr/>
          <p:nvPr/>
        </p:nvSpPr>
        <p:spPr>
          <a:xfrm>
            <a:off x="752475" y="5568255"/>
            <a:ext cx="133350" cy="85725"/>
          </a:xfrm>
          <a:custGeom>
            <a:avLst/>
            <a:gdLst/>
            <a:ahLst/>
            <a:cxnLst/>
            <a:rect l="l" t="t" r="r" b="b"/>
            <a:pathLst>
              <a:path w="133350" h="85725">
                <a:moveTo>
                  <a:pt x="0" y="0"/>
                </a:moveTo>
                <a:lnTo>
                  <a:pt x="133350" y="0"/>
                </a:lnTo>
                <a:lnTo>
                  <a:pt x="66675" y="85725"/>
                </a:lnTo>
                <a:close/>
              </a:path>
            </a:pathLst>
          </a:custGeom>
          <a:solidFill>
            <a:srgbClr val="6B6A6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9600" y="5874246"/>
            <a:ext cx="419100" cy="4191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7600950" y="1971973"/>
            <a:ext cx="39814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4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は3つの Tool だけを使い、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検証に通った応答だけを1回確定させる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629073"/>
            <a:ext cx="208568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1回の発言を処理する流れ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911" y="2200573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2050" y="220146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発言を受け付ける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2300" y="2223195"/>
            <a:ext cx="3372386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Worker が発言を会話に保存し、実行の受付を返す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911" y="3134023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2050" y="3134916"/>
            <a:ext cx="10194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ループを回す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2300" y="3045916"/>
            <a:ext cx="4199382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ThreadDO で Cloudflare の Think SDK がモデルを呼ぶ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（1回の発言につきモデル呼び出し最大6回・60秒）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911" y="4086225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2050" y="4087118"/>
            <a:ext cx="15346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お店の情報を集める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2300" y="3991273"/>
            <a:ext cx="4199382" cy="4351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search_places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で探し、</a:t>
            </a: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get_place_details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詳細を取り直す（必要なだけ手順2から繰り返す）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911" y="5026521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2050" y="5027414"/>
            <a:ext cx="86106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応答を出す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2300" y="5042297"/>
            <a:ext cx="36912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respond</a:t>
            </a: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で質問・説明・カード提案のどれか1つを返す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911" y="5959971"/>
            <a:ext cx="1277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2050" y="5960864"/>
            <a:ext cx="136131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検証して確定する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62300" y="5871865"/>
            <a:ext cx="4199382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根拠・情報の新しさ・必須条件を確かめて確定する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（通らなければ手順4へ差し戻し、2回まで直させる）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00950" y="1629073"/>
            <a:ext cx="290726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の応答を根拠に結びつける仕組み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200573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モデルを呼ぶたびに Tool の呼び出しを必須にし、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文章だけの応答は確定させない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844403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店舗情報を読み取ったのと同じ呼び出しでは、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応答を確定させない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488234"/>
            <a:ext cx="3886200" cy="445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カードの営業時間や予算は、モデルの文章ではなく</a:t>
            </a:r>
            <a:br/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取得した店舗情報から付ける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32064"/>
            <a:ext cx="3088053" cy="209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7638" indent="-147638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確定した応答だけを、SSE でアプリへ届ける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4416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4375100" y="1971973"/>
            <a:ext cx="3441651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5" name="Picture 4" descr="img_10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00" y="5248275"/>
            <a:ext cx="800100" cy="800100"/>
          </a:xfrm>
          <a:prstGeom prst="rect">
            <a:avLst/>
          </a:prstGeom>
        </p:spPr>
      </p:pic>
      <p:pic>
        <p:nvPicPr>
          <p:cNvPr id="6" name="Picture 5" descr="img_10_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300" y="5248275"/>
            <a:ext cx="800100" cy="800100"/>
          </a:xfrm>
          <a:prstGeom prst="rect">
            <a:avLst/>
          </a:prstGeom>
        </p:spPr>
      </p:pic>
      <p:pic>
        <p:nvPicPr>
          <p:cNvPr id="7" name="Picture 6" descr="img_10_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1500" y="5248275"/>
            <a:ext cx="800100" cy="800100"/>
          </a:xfrm>
          <a:prstGeom prst="rect">
            <a:avLst/>
          </a:prstGeom>
        </p:spPr>
      </p:pic>
      <p:pic>
        <p:nvPicPr>
          <p:cNvPr id="8" name="Picture 7" descr="img_10_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00" y="5248275"/>
            <a:ext cx="800100" cy="80010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8140601" y="1971973"/>
            <a:ext cx="3441799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次は候補を見比べやすくして maru との会話を増やし、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一軒めのあとの二軒めまで一緒に探せるようにする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629073"/>
            <a:ext cx="198043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候補を見比べやすくする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" y="2181523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候補カードを横スワイプの帯で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1枚ずつ見せ、何枚目かを示す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" y="2851845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候補を出したときの説明文は、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カードの下に折りたたむ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3522166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店舗詳細の見た目を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候補カードのデザインにそろえる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5100" y="1629073"/>
            <a:ext cx="1954899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と話しながら選ぶ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550" y="2181523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いま見ている候補の選定理由を、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が吹き出しで話す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550" y="2851845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結果が出たとき、maru が掲載情報から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お店の雰囲気をひとことで伝える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3522166"/>
            <a:ext cx="3338303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一緒に探すキャラクターを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5体から選べるようにする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5100" y="5029200"/>
            <a:ext cx="211339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maru のほかに描き起こし済みの4体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0601" y="1629073"/>
            <a:ext cx="23317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探す前と決めたあとを整える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2051" y="2181523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一軒めを決めたあと、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続けて二軒めを探す流れを作る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2051" y="2851845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3km圏でも0件のとき、市内まで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広げて探し直すかを検討する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2051" y="3522166"/>
            <a:ext cx="3338454" cy="49708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61925" indent="-161925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位置情報の許可状態を表示し、</a:t>
            </a:r>
            <a:br/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拒否されたときは iOS の設定へ案内する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143625"/>
            <a:ext cx="4722233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本資料は consulting-pptx-skill（github.com/carnot-tech/consulting-pptx-skill）で作成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