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5240000" cy="85725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58"/>
  </p:normalViewPr>
  <p:slideViewPr>
    <p:cSldViewPr snapToGrid="0">
      <p:cViewPr>
        <p:scale>
          <a:sx n="72" d="100"/>
          <a:sy n="72" d="100"/>
        </p:scale>
        <p:origin x="712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iPhone アプリと単一 Worker package の2デプロイ面。Worker内に業務判断の独立package @ima/coreを持つ。4 workspaceは apps/mobile、packages/contracts、worker、worker/core。矢印は主な実行時の呼び出し・データ授受であり、ソースコードのimport方向ではない。Core Portを所有するのはCore、具象AdapterはWorker、生成・注入はcompositionの責務。UIのI/Oはservicesを経由する。</a:t>
            </a:r>
          </a:p>
          <a:p>
            <a:r>
              <a:t>会話・探索とowner単位の保存・決定は別の操作。全体図の保存・決定APIはHTTP入口を表す。その先のCore ApplicationがOwnerStore Portを使い、SavedReferenceDOが保存済みprefs、店舗identity、decidedAtの正を持つ。ThreadDOにはowner設定の独立した正を作らない。</a:t>
            </a:r>
          </a:p>
          <a:p>
            <a:r>
              <a:t>OpenAIはResponses APIを使用し、@ai-sdk/openai とAI SDKを経由する。店舗検索・詳細はHot Pepper Adapterを通る。写真の実体はWorkerの専用HTTP経路で取得する。写真bytesをCore/LLM/永続ストレージへ渡さない。写真経路の詳細は3ページ目。</a:t>
            </a:r>
          </a:p>
          <a:p>
            <a:r>
              <a:t>主提案1件＋別案最大2件、または既存カードを保持するmessageを返す。現在の接続では徒歩経路・終電・保存店舗再取得を提供しない。現行仕様はREADMEから辿る文書を正とし、写真提供はdocs/product.md、docs/provider-policy.mdおよび写真のcomposition/HTTP実装で確認できる。docs/operations.mdの実Provider検証節には写真を無効とする旧記述が残っており、この図では写真を稼働検収済みとは表現しない。</a:t>
            </a:r>
          </a:p>
          <a:p>
            <a:endParaRPr/>
          </a:p>
          <a:p>
            <a:r>
              <a:t>根拠（main e8e3ee48138708cf1cad2d00db365e9a96c0bc47）</a:t>
            </a:r>
          </a:p>
          <a:p>
            <a:endParaRPr/>
          </a:p>
          <a:p>
            <a:r>
              <a:t>https://github.com/takapom/ima-app/blob/e8e3ee48138708cf1cad2d00db365e9a96c0bc47/docs/architecture.md</a:t>
            </a:r>
          </a:p>
          <a:p>
            <a:endParaRPr/>
          </a:p>
          <a:p>
            <a:r>
              <a:t>https://github.com/takapom/ima-app/blob/e8e3ee48138708cf1cad2d00db365e9a96c0bc47/docs/contracts.md</a:t>
            </a:r>
          </a:p>
          <a:p>
            <a:endParaRPr/>
          </a:p>
          <a:p>
            <a:r>
              <a:t>https://github.com/takapom/ima-app/blob/e8e3ee48138708cf1cad2d00db365e9a96c0bc47/docs/product.md</a:t>
            </a:r>
          </a:p>
          <a:p>
            <a:endParaRPr/>
          </a:p>
          <a:p>
            <a:r>
              <a:t>https://github.com/takapom/ima-app/blob/e8e3ee48138708cf1cad2d00db365e9a96c0bc47/docs/provider-policy.md</a:t>
            </a:r>
          </a:p>
          <a:p>
            <a:endParaRPr/>
          </a:p>
          <a:p>
            <a:r>
              <a:t>https://github.com/takapom/ima-app/blob/e8e3ee48138708cf1cad2d00db365e9a96c0bc47/package.json</a:t>
            </a:r>
          </a:p>
          <a:p>
            <a:endParaRPr/>
          </a:p>
          <a:p>
            <a:r>
              <a:t>https://github.com/takapom/ima-app/blob/e8e3ee48138708cf1cad2d00db365e9a96c0bc47/worker/package.json</a:t>
            </a:r>
          </a:p>
          <a:p>
            <a:endParaRPr/>
          </a:p>
          <a:p>
            <a:r>
              <a:t>https://github.com/takapom/ima-app/blob/e8e3ee48138708cf1cad2d00db365e9a96c0bc47/worker/entrypoints/cloudflare/worker.ts</a:t>
            </a:r>
          </a:p>
          <a:p>
            <a:endParaRPr/>
          </a:p>
          <a:p>
            <a:r>
              <a:t>https://github.com/takapom/ima-app/blob/e8e3ee48138708cf1cad2d00db365e9a96c0bc47/worker/composition/bootstrap.ts</a:t>
            </a:r>
          </a:p>
          <a:p>
            <a:endParaRPr/>
          </a:p>
          <a:p>
            <a:r>
              <a:t>https://github.com/takapom/ima-app/blob/e8e3ee48138708cf1cad2d00db365e9a96c0bc47/worker/composition/runtime-production-factory.ts</a:t>
            </a:r>
          </a:p>
          <a:p>
            <a:endParaRPr/>
          </a:p>
          <a:p>
            <a:r>
              <a:t>https://github.com/takapom/ima-app/blob/e8e3ee48138708cf1cad2d00db365e9a96c0bc47/worker/composition/runtime-production-place-ports.ts</a:t>
            </a:r>
          </a:p>
          <a:p>
            <a:endParaRPr/>
          </a:p>
          <a:p>
            <a:r>
              <a:t>https://github.com/takapom/ima-app/blob/e8e3ee48138708cf1cad2d00db365e9a96c0bc47/apps/mobile/src/services/runtime/native-mobile-runtime.ts</a:t>
            </a:r>
          </a:p>
          <a:p>
            <a:endParaRPr/>
          </a:p>
          <a:p>
            <a:r>
              <a:t>https://github.com/takapom/ima-app/blob/e8e3ee48138708cf1cad2d00db365e9a96c0bc47/apps/mobile/src/services/runtime/mobile-runtime.ts</a:t>
            </a:r>
          </a:p>
          <a:p>
            <a:endParaRPr/>
          </a:p>
          <a:p>
            <a:r>
              <a:t>https://github.com/takapom/ima-app/blob/e8e3ee48138708cf1cad2d00db365e9a96c0bc47/.dependency-cruiser.cjs</a:t>
            </a:r>
          </a:p>
          <a:p>
            <a:endParaRPr/>
          </a:p>
          <a:p>
            <a:r>
              <a:t>補足説明</a:t>
            </a:r>
          </a:p>
          <a:p>
            <a:endParaRPr/>
          </a:p>
          <a:p>
            <a:r>
              <a:t>ima.   コード・設定に基づく構成  2026.09.19   /   main e8e3ee4</a:t>
            </a:r>
          </a:p>
          <a:p>
            <a:endParaRPr/>
          </a:p>
          <a:p>
            <a:r>
              <a:t>線：主な呼び出し・データ授受</a:t>
            </a:r>
          </a:p>
          <a:p>
            <a:endParaRPr/>
          </a:p>
          <a:p>
            <a:r>
              <a:t>共有契約  @ima/contracts</a:t>
            </a:r>
          </a:p>
          <a:p>
            <a:endParaRPr/>
          </a:p>
          <a:p>
            <a:r>
              <a:t>Mobile と HTTP API の DTO・schema</a:t>
            </a:r>
          </a:p>
          <a:p>
            <a:r>
              <a:t>Core と contracts は相互依存しない</a:t>
            </a:r>
          </a:p>
          <a:p>
            <a:endParaRPr/>
          </a:p>
          <a:p>
            <a:r>
              <a:t>組み立てと依存</a:t>
            </a:r>
          </a:p>
          <a:p>
            <a:endParaRPr/>
          </a:p>
          <a:p>
            <a:r>
              <a:t>composition が Adapter を注入</a:t>
            </a:r>
          </a:p>
          <a:p>
            <a:r>
              <a:t>Core は SDK・HTTP・DB に依存しない</a:t>
            </a:r>
          </a:p>
          <a:p>
            <a:endParaRPr/>
          </a:p>
          <a:p>
            <a:r>
              <a:t>データの正</a:t>
            </a:r>
          </a:p>
          <a:p>
            <a:endParaRPr/>
          </a:p>
          <a:p>
            <a:r>
              <a:t>owner 状態はサーバーに保持</a:t>
            </a:r>
          </a:p>
          <a:p>
            <a:r>
              <a:t>端末 SQLite はサーバー値の投影</a:t>
            </a:r>
          </a:p>
          <a:p>
            <a:endParaRPr/>
          </a:p>
          <a:p>
            <a:r>
              <a:t>使用アイコンの公式配布元（図中は製品・技術の識別を目的とし、各社の推奨・提携を表さない）</a:t>
            </a:r>
          </a:p>
          <a:p>
            <a:endParaRPr/>
          </a:p>
          <a:p>
            <a:r>
              <a:t>expo: https://expo.dev/brand (配布先 https://github.com/expo/logos)</a:t>
            </a:r>
          </a:p>
          <a:p>
            <a:endParaRPr/>
          </a:p>
          <a:p>
            <a:r>
              <a:t>react: https://github.com/facebook/react/blob/main/fixtures/dom/public/react-logo.svg</a:t>
            </a:r>
          </a:p>
          <a:p>
            <a:endParaRPr/>
          </a:p>
          <a:p>
            <a:r>
              <a:t>cloudflare: https://github.com/cloudflare/cloudflare-docs/blob/production/src/assets/logo.svg</a:t>
            </a:r>
          </a:p>
          <a:p>
            <a:endParaRPr/>
          </a:p>
          <a:p>
            <a:r>
              <a:t>durable: https://github.com/cloudflare/cloudflare-docs/blob/production/src/icons/durable-objects.svg</a:t>
            </a:r>
          </a:p>
          <a:p>
            <a:endParaRPr/>
          </a:p>
          <a:p>
            <a:r>
              <a:t>openai: https://openai.com/brand/ (配布先 https://cdn.openai.com/brand/openai-logos.zip)</a:t>
            </a:r>
          </a:p>
          <a:p>
            <a:endParaRPr/>
          </a:p>
          <a:p>
            <a:r>
              <a:t>hotpepper: https://webservice.recruit.co.jp/common/images/logo_hotopepper_264x45.png</a:t>
            </a:r>
          </a:p>
          <a:p>
            <a:endParaRPr/>
          </a:p>
          <a:p>
            <a:r>
              <a:t>技術スタック</a:t>
            </a:r>
          </a:p>
          <a:p>
            <a:endParaRPr/>
          </a:p>
          <a:p>
            <a:r>
              <a:t>主要言語はTypeScript 5.9.3。React 19.2.3 / React Native 0.86.3 / Expo 57.0.21を端末で使用する。Valibot 1.4.2はCoreのDomain Primitives、公開契約およびWorker境界のschema検証に使用する。Coreの業務判定すべてをValibotが行うという意味ではない。</a:t>
            </a:r>
          </a:p>
          <a:p>
            <a:endParaRPr/>
          </a:p>
          <a:p>
            <a:r>
              <a:t>https://github.com/takapom/ima-app/blob/e8e3ee48138708cf1cad2d00db365e9a96c0bc47/package.json</a:t>
            </a:r>
          </a:p>
          <a:p>
            <a:endParaRPr/>
          </a:p>
          <a:p>
            <a:r>
              <a:t>https://github.com/takapom/ima-app/blob/e8e3ee48138708cf1cad2d00db365e9a96c0bc47/apps/mobile/package.json</a:t>
            </a:r>
          </a:p>
          <a:p>
            <a:endParaRPr/>
          </a:p>
          <a:p>
            <a:r>
              <a:t>https://github.com/takapom/ima-app/blob/e8e3ee48138708cf1cad2d00db365e9a96c0bc47/worker/package.json</a:t>
            </a:r>
          </a:p>
          <a:p>
            <a:endParaRPr/>
          </a:p>
          <a:p>
            <a:r>
              <a:t>https://github.com/takapom/ima-app/blob/e8e3ee48138708cf1cad2d00db365e9a96c0bc47/worker/core/package.json</a:t>
            </a:r>
          </a:p>
          <a:p>
            <a:endParaRPr/>
          </a:p>
          <a:p>
            <a:r>
              <a:t>https://github.com/takapom/ima-app/blob/e8e3ee48138708cf1cad2d00db365e9a96c0bc47/packages/contracts/package.json</a:t>
            </a:r>
          </a:p>
          <a:p>
            <a:endParaRPr/>
          </a:p>
          <a:p>
            <a:r>
              <a:t>https://github.com/takapom/ima-app/blob/e8e3ee48138708cf1cad2d00db365e9a96c0bc47/.github/workflows/quality.yml</a:t>
            </a:r>
          </a:p>
          <a:p>
            <a:endParaRPr/>
          </a:p>
          <a:p>
            <a:r>
              <a:t>https://github.com/takapom/ima-app/blob/e8e3ee48138708cf1cad2d00db365e9a96c0bc47/.github/workflows/config-dry-run.yml</a:t>
            </a:r>
          </a:p>
          <a:p>
            <a:endParaRPr/>
          </a:p>
          <a:p>
            <a:r>
              <a:t>https://github.com/takapom/ima-app/blob/e8e3ee48138708cf1cad2d00db365e9a96c0bc47/apps/mobile/eas.json</a:t>
            </a:r>
          </a:p>
          <a:p>
            <a:endParaRPr/>
          </a:p>
          <a:p>
            <a:r>
              <a:t>図中の補足</a:t>
            </a:r>
          </a:p>
          <a:p>
            <a:endParaRPr/>
          </a:p>
          <a:p>
            <a:r>
              <a:t>アイコン中心の表示では React Native、Expo、Cloudflare、Workers、OpenAI、SQLite、Hot Pepper の公式配布素材を製品識別に使用する。自作の論理コンポーネントは名称で示す。図中から省略した実装名と詳細は上記ノートを参照。</a:t>
            </a:r>
          </a:p>
          <a:p>
            <a:endParaRPr/>
          </a:p>
          <a:p>
            <a:r>
              <a:t>react: https://github.com/facebook/react/blob/main/fixtures/dom/public/react-logo.svg</a:t>
            </a:r>
          </a:p>
          <a:p>
            <a:endParaRPr/>
          </a:p>
          <a:p>
            <a:r>
              <a:t>expo: https://expo.dev/brand (配布先 https://github.com/expo/logos)</a:t>
            </a:r>
          </a:p>
          <a:p>
            <a:endParaRPr/>
          </a:p>
          <a:p>
            <a:r>
              <a:t>cloudflare: https://github.com/cloudflare/cloudflare-docs/blob/production/src/assets/logo.svg</a:t>
            </a:r>
          </a:p>
          <a:p>
            <a:endParaRPr/>
          </a:p>
          <a:p>
            <a:r>
              <a:t>workersbrand: https://github.com/cloudflare/workers-sdk/blob/main/packages/workers-playground/public/workers-logo.svg</a:t>
            </a:r>
          </a:p>
          <a:p>
            <a:endParaRPr/>
          </a:p>
          <a:p>
            <a:r>
              <a:t>durable: https://github.com/cloudflare/cloudflare-docs/blob/production/src/icons/durable-objects.svg</a:t>
            </a:r>
          </a:p>
          <a:p>
            <a:endParaRPr/>
          </a:p>
          <a:p>
            <a:r>
              <a:t>openai: https://openai.com/brand/ (配布先 https://cdn.openai.com/brand/openai-logos.zip)</a:t>
            </a:r>
          </a:p>
          <a:p>
            <a:endParaRPr/>
          </a:p>
          <a:p>
            <a:r>
              <a:t>hotpepper: https://webservice.recruit.co.jp/common/images/logo_hotopepper_264x45.png</a:t>
            </a:r>
          </a:p>
          <a:p>
            <a:endParaRPr/>
          </a:p>
          <a:p>
            <a:r>
              <a:t>typescript: https://www.typescriptlang.org/branding/ts-logo-128.svg (公式ガイド: https://www.typescriptlang.org/branding/)</a:t>
            </a:r>
          </a:p>
          <a:p>
            <a:endParaRPr/>
          </a:p>
          <a:p>
            <a:r>
              <a:t>valibot: https://github.com/fabian-hiller/valibot/blob/main/brand/valibot-icon.svg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Think SDKのnative loopがモデル実行とTool呼び出しを制御する。ThreadDOはRuntimeProductionThinkHost、RuntimeThinkHostを通じてThinkを継承する。図は論理的な主経路であり、独立した複数エージェントや複数サービスを意味しない。</a:t>
            </a:r>
          </a:p>
          <a:p>
            <a:r>
              <a:t>CoreのprojectModelContextとWorkerのprojectStepで、今回の原文・許可された会話・表示中カード・条件を投影する。OpenAIの固定モデル設定はgpt-5.6-luna、reasoningEffort=low。AI SDK 6、@ai-sdk/openai、Think 0.17.0を利用する（worker/package.json）。Responsesにはstore:falseを付与する。</a:t>
            </a:r>
          </a:p>
          <a:p>
            <a:r>
              <a:t>公開Toolはsearch_places、get_place_details、submit_cardsの3つ。読み取りToolはLLM向け入力Adapterで、Coreが所有するPlaceSearchPort / PlaceDetailsPortへ依存し、RuntimeReadExecutorと注入済みHot Pepper Adapterを使う。検索・詳細AdapterがCandidateObservationRegistryへ候補と観測を登録する。図中①②③は説明上の経路の順序で、各turnが必ずすべてを実行する意味ではない。説明や追加質問ではToolなしの終端messageを使う。これは4つ目のToolではない。</a:t>
            </a:r>
          </a:p>
          <a:p>
            <a:r>
              <a:t>wrapRuntimeModelGuardはモデルstep全体を副作用前に検査する。読み取り＋submit、複数submit、final＋Toolを拒否する。Tool付きstepの前置き文は終端にしない。残り予算による最終応答stepではToolを無効化する。</a:t>
            </a:r>
          </a:p>
          <a:p>
            <a:r>
              <a:t>submit_cardsまたは終端messageをCoreで検証する。candidate/observation scope、根拠、鮮度、保持条件、必須条件、revisionを確認する。現在の構成はallowUnknownOpening=trueで営業未確認を明示して許容するが、明示的な営業終了や検証不能な必須条件を成功へ補正しない。identity/opening_hoursはモデルが根拠を引用する。price/photos/facilitiesは最新の有効観測をCoreが表示用に補完できる。</a:t>
            </a:r>
          </a:p>
          <a:p>
            <a:r>
              <a:t>CommitPortはThreadDOのSQLite transactionでrevision CAS、参照の永続化、turn完了を原子的に行う。冪等再送は同じreceiptを返し、確定後は停止する。Coreの確定結果をWorkerが公開DTOへ変換する。モデルの応答確定は、ユーザーの「ここにする」決定とは別。</a:t>
            </a:r>
          </a:p>
          <a:p>
            <a:r>
              <a:t>Tool結果の一時モデル入力とSDK永続履歴は分離する。保存禁止本文や由来不明summaryを保存前に除去する。許可された会話はThreadDO文脈に期限付きで保持し、復元時にも期限を検証する。セッション期限はthread作成時に固定するJST 05:00。図は実装の説明であり実モデルの品質検収ではない。</a:t>
            </a:r>
          </a:p>
          <a:p>
            <a:endParaRPr/>
          </a:p>
          <a:p>
            <a:r>
              <a:t>根拠（main e8e3ee48138708cf1cad2d00db365e9a96c0bc47）</a:t>
            </a:r>
          </a:p>
          <a:p>
            <a:endParaRPr/>
          </a:p>
          <a:p>
            <a:r>
              <a:t>https://github.com/takapom/ima-app/blob/e8e3ee48138708cf1cad2d00db365e9a96c0bc47/worker/entrypoints/cloudflare/runtime-host.ts</a:t>
            </a:r>
          </a:p>
          <a:p>
            <a:endParaRPr/>
          </a:p>
          <a:p>
            <a:r>
              <a:t>https://github.com/takapom/ima-app/blob/e8e3ee48138708cf1cad2d00db365e9a96c0bc47/worker/entrypoints/cloudflare/runtime-production-host.ts</a:t>
            </a:r>
          </a:p>
          <a:p>
            <a:endParaRPr/>
          </a:p>
          <a:p>
            <a:r>
              <a:t>https://github.com/takapom/ima-app/blob/e8e3ee48138708cf1cad2d00db365e9a96c0bc47/worker/composition/runtime-turn-composition.ts</a:t>
            </a:r>
          </a:p>
          <a:p>
            <a:endParaRPr/>
          </a:p>
          <a:p>
            <a:r>
              <a:t>https://github.com/takapom/ima-app/blob/e8e3ee48138708cf1cad2d00db365e9a96c0bc47/worker/infrastructure/runtime/turn-execution/runtime-think-connection.ts</a:t>
            </a:r>
          </a:p>
          <a:p>
            <a:endParaRPr/>
          </a:p>
          <a:p>
            <a:r>
              <a:t>https://github.com/takapom/ima-app/blob/e8e3ee48138708cf1cad2d00db365e9a96c0bc47/worker/infrastructure/runtime/turn-execution/runtime-model-guard.ts</a:t>
            </a:r>
          </a:p>
          <a:p>
            <a:endParaRPr/>
          </a:p>
          <a:p>
            <a:r>
              <a:t>https://github.com/takapom/ima-app/blob/e8e3ee48138708cf1cad2d00db365e9a96c0bc47/worker/infrastructure/runtime/turn-execution/runtime-batch.ts</a:t>
            </a:r>
          </a:p>
          <a:p>
            <a:endParaRPr/>
          </a:p>
          <a:p>
            <a:r>
              <a:t>https://github.com/takapom/ima-app/blob/e8e3ee48138708cf1cad2d00db365e9a96c0bc47/worker/infrastructure/adapters/inbound/tools/catalog.ts</a:t>
            </a:r>
          </a:p>
          <a:p>
            <a:endParaRPr/>
          </a:p>
          <a:p>
            <a:r>
              <a:t>https://github.com/takapom/ima-app/blob/e8e3ee48138708cf1cad2d00db365e9a96c0bc47/worker/infrastructure/runtime/tool-reads/runtime-read-executor.ts</a:t>
            </a:r>
          </a:p>
          <a:p>
            <a:endParaRPr/>
          </a:p>
          <a:p>
            <a:r>
              <a:t>https://github.com/takapom/ima-app/blob/e8e3ee48138708cf1cad2d00db365e9a96c0bc47/worker/core/src/application/candidate-registry/registry.ts</a:t>
            </a:r>
          </a:p>
          <a:p>
            <a:endParaRPr/>
          </a:p>
          <a:p>
            <a:r>
              <a:t>https://github.com/takapom/ima-app/blob/e8e3ee48138708cf1cad2d00db365e9a96c0bc47/worker/core/src/application/submission/submit-cards.ts</a:t>
            </a:r>
          </a:p>
          <a:p>
            <a:endParaRPr/>
          </a:p>
          <a:p>
            <a:r>
              <a:t>https://github.com/takapom/ima-app/blob/e8e3ee48138708cf1cad2d00db365e9a96c0bc47/worker/core/src/application/submission/submit-application.ts</a:t>
            </a:r>
          </a:p>
          <a:p>
            <a:endParaRPr/>
          </a:p>
          <a:p>
            <a:r>
              <a:t>https://github.com/takapom/ima-app/blob/e8e3ee48138708cf1cad2d00db365e9a96c0bc47/worker/infrastructure/adapters/outbound/persistence/thread/durable-commit-adapter.ts</a:t>
            </a:r>
          </a:p>
          <a:p>
            <a:endParaRPr/>
          </a:p>
          <a:p>
            <a:r>
              <a:t>https://github.com/takapom/ima-app/blob/e8e3ee48138708cf1cad2d00db365e9a96c0bc47/worker/infrastructure/runtime/retention/runtime-retention.ts</a:t>
            </a:r>
          </a:p>
          <a:p>
            <a:endParaRPr/>
          </a:p>
          <a:p>
            <a:r>
              <a:t>https://github.com/takapom/ima-app/blob/e8e3ee48138708cf1cad2d00db365e9a96c0bc47/worker/infrastructure/runtime/context/runtime-production-context.ts</a:t>
            </a:r>
          </a:p>
          <a:p>
            <a:endParaRPr/>
          </a:p>
          <a:p>
            <a:r>
              <a:t>https://github.com/takapom/ima-app/blob/e8e3ee48138708cf1cad2d00db365e9a96c0bc47/worker/infrastructure/adapters/outbound/providers/openai/provider-config.ts</a:t>
            </a:r>
          </a:p>
          <a:p>
            <a:endParaRPr/>
          </a:p>
          <a:p>
            <a:r>
              <a:t>https://github.com/takapom/ima-app/blob/e8e3ee48138708cf1cad2d00db365e9a96c0bc47/worker/infrastructure/adapters/outbound/providers/openai/provider-options.ts</a:t>
            </a:r>
          </a:p>
          <a:p>
            <a:endParaRPr/>
          </a:p>
          <a:p>
            <a:r>
              <a:t>補足説明</a:t>
            </a:r>
          </a:p>
          <a:p>
            <a:endParaRPr/>
          </a:p>
          <a:p>
            <a:r>
              <a:t>ima.   コード・設定に基づく構成  2026.09.19   /   main e8e3ee4</a:t>
            </a:r>
          </a:p>
          <a:p>
            <a:endParaRPr/>
          </a:p>
          <a:p>
            <a:r>
              <a:t>読み取りと確定は別 step</a:t>
            </a:r>
          </a:p>
          <a:p>
            <a:r>
              <a:t>確定は1回、成功後は追加生成しない</a:t>
            </a:r>
          </a:p>
          <a:p>
            <a:endParaRPr/>
          </a:p>
          <a:p>
            <a:r>
              <a:t>予算・キャンセル・古い revision を制御</a:t>
            </a:r>
          </a:p>
          <a:p>
            <a:r>
              <a:t>invalid は上限内で修正する</a:t>
            </a:r>
          </a:p>
          <a:p>
            <a:endParaRPr/>
          </a:p>
          <a:p>
            <a:r>
              <a:t>応答：message または cards</a:t>
            </a:r>
          </a:p>
          <a:p>
            <a:r>
              <a:t>主提案1件＋別案最大2件</a:t>
            </a:r>
          </a:p>
          <a:p>
            <a:endParaRPr/>
          </a:p>
          <a:p>
            <a:r>
              <a:t>使用アイコンの公式配布元（図中は製品・技術の識別を目的とし、各社の推奨・提携を表さない）</a:t>
            </a:r>
          </a:p>
          <a:p>
            <a:endParaRPr/>
          </a:p>
          <a:p>
            <a:r>
              <a:t>openai: https://openai.com/brand/ (配布先 https://cdn.openai.com/brand/openai-logos.zip)</a:t>
            </a:r>
          </a:p>
          <a:p>
            <a:endParaRPr/>
          </a:p>
          <a:p>
            <a:r>
              <a:t>hotpepper: https://webservice.recruit.co.jp/common/images/logo_hotopepper_264x45.png</a:t>
            </a:r>
          </a:p>
          <a:p>
            <a:endParaRPr/>
          </a:p>
          <a:p>
            <a:r>
              <a:t>技術スタック</a:t>
            </a:r>
          </a:p>
          <a:p>
            <a:endParaRPr/>
          </a:p>
          <a:p>
            <a:r>
              <a:t>Think 0.17.0、Agents SDK（agents 0.22.0）、AI SDK（ai 6.0.182）、@ai-sdk/openai 3.0.69をWorker内で使用する。Thinkの個別ロゴは使用せず、Cloudflareの公式AgentsアイコンをSDK層の識別に使用する。AI SDKロゴはライブラリを示し、Vercel上のホスティングやAI Gatewayの使用は意味しない。</a:t>
            </a:r>
          </a:p>
          <a:p>
            <a:endParaRPr/>
          </a:p>
          <a:p>
            <a:r>
              <a:t>https://github.com/takapom/ima-app/blob/e8e3ee48138708cf1cad2d00db365e9a96c0bc47/package.json</a:t>
            </a:r>
          </a:p>
          <a:p>
            <a:endParaRPr/>
          </a:p>
          <a:p>
            <a:r>
              <a:t>https://github.com/takapom/ima-app/blob/e8e3ee48138708cf1cad2d00db365e9a96c0bc47/apps/mobile/package.json</a:t>
            </a:r>
          </a:p>
          <a:p>
            <a:endParaRPr/>
          </a:p>
          <a:p>
            <a:r>
              <a:t>https://github.com/takapom/ima-app/blob/e8e3ee48138708cf1cad2d00db365e9a96c0bc47/worker/package.json</a:t>
            </a:r>
          </a:p>
          <a:p>
            <a:endParaRPr/>
          </a:p>
          <a:p>
            <a:r>
              <a:t>https://github.com/takapom/ima-app/blob/e8e3ee48138708cf1cad2d00db365e9a96c0bc47/worker/core/package.json</a:t>
            </a:r>
          </a:p>
          <a:p>
            <a:endParaRPr/>
          </a:p>
          <a:p>
            <a:r>
              <a:t>https://github.com/takapom/ima-app/blob/e8e3ee48138708cf1cad2d00db365e9a96c0bc47/packages/contracts/package.json</a:t>
            </a:r>
          </a:p>
          <a:p>
            <a:endParaRPr/>
          </a:p>
          <a:p>
            <a:r>
              <a:t>https://github.com/takapom/ima-app/blob/e8e3ee48138708cf1cad2d00db365e9a96c0bc47/.github/workflows/quality.yml</a:t>
            </a:r>
          </a:p>
          <a:p>
            <a:endParaRPr/>
          </a:p>
          <a:p>
            <a:r>
              <a:t>https://github.com/takapom/ima-app/blob/e8e3ee48138708cf1cad2d00db365e9a96c0bc47/.github/workflows/config-dry-run.yml</a:t>
            </a:r>
          </a:p>
          <a:p>
            <a:endParaRPr/>
          </a:p>
          <a:p>
            <a:r>
              <a:t>https://github.com/takapom/ima-app/blob/e8e3ee48138708cf1cad2d00db365e9a96c0bc47/apps/mobile/eas.json</a:t>
            </a:r>
          </a:p>
          <a:p>
            <a:endParaRPr/>
          </a:p>
          <a:p>
            <a:r>
              <a:t>図中の補足</a:t>
            </a:r>
          </a:p>
          <a:p>
            <a:endParaRPr/>
          </a:p>
          <a:p>
            <a:r>
              <a:t>アイコン中心の表示では React Native、Expo、Cloudflare、Workers、OpenAI、SQLite、Hot Pepper の公式配布素材を製品識別に使用する。自作の論理コンポーネントは名称で示す。図中から省略した実装名と詳細は上記ノートを参照。</a:t>
            </a:r>
          </a:p>
          <a:p>
            <a:endParaRPr/>
          </a:p>
          <a:p>
            <a:r>
              <a:t>openai: https://openai.com/brand/ (配布先 https://cdn.openai.com/brand/openai-logos.zip)</a:t>
            </a:r>
          </a:p>
          <a:p>
            <a:endParaRPr/>
          </a:p>
          <a:p>
            <a:r>
              <a:t>hotpepper: https://webservice.recruit.co.jp/common/images/logo_hotopepper_264x45.png</a:t>
            </a:r>
          </a:p>
          <a:p>
            <a:endParaRPr/>
          </a:p>
          <a:p>
            <a:r>
              <a:t>durable: https://github.com/cloudflare/cloudflare-docs/blob/production/src/icons/durable-objects.svg</a:t>
            </a:r>
          </a:p>
          <a:p>
            <a:endParaRPr/>
          </a:p>
          <a:p>
            <a:r>
              <a:t>aisdk: https://ai-sdk.dev/_next/static/media/ai-sdk-light.0-.nn6z_67.-e.svg (公式サイト https://ai-sdk.dev/)</a:t>
            </a:r>
          </a:p>
          <a:p>
            <a:endParaRPr/>
          </a:p>
          <a:p>
            <a:r>
              <a:t>agents: https://github.com/cloudflare/cloudflare-docs/blob/production/src/icons/agents.svg</a:t>
            </a:r>
          </a:p>
          <a:p>
            <a:endParaRPr/>
          </a:p>
          <a:p>
            <a:r>
              <a:t>valibot: https://github.com/fabian-hiller/valibot/blob/main/brand/valibot-icon.svg</a:t>
            </a:r>
          </a:p>
          <a:p>
            <a:endParaRPr/>
          </a:p>
          <a:p>
            <a:r>
              <a:t>typescript: https://www.typescriptlang.org/branding/ts-logo-128.svg (公式ガイド: https://www.typescriptlang.org/branding/)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Wranglerの構成を図示したもので、クラウド上のデプロイ状態や外部配布の完了を示さない。worker/wrangler.jsoncはdev、staging、productionのWorker名、同じ6 DO bindings、v1〜v5のSQLite class migrationsを定義する。devの既定はfixture、staging/productionの既定はdisabled。Provider flagsの既定もfalse。</a:t>
            </a:r>
          </a:p>
          <a:p>
            <a:r>
              <a:t>THREADS=ThreadDO: owner/thread scopeの会話実行、turn、revision、確定参照、許可された会話文脈を保持する。Think native loopもこのDO上で動く。</a:t>
            </a:r>
          </a:p>
          <a:p>
            <a:r>
              <a:t>SAVED_REFERENCES=SavedReferenceDO: owner単位のprefs、店舗identity、decidedAtを保持する。shard名はsaved-reference-owner:{ownerScopeRef}。店舗本文を保存レコードへ埋め込まない。</a:t>
            </a:r>
          </a:p>
          <a:p>
            <a:r>
              <a:t>RATE_LIMITS=RateLimitDO: owner/端末ごとの要求制限を管理する。現行Adapterは共通bucketを使用する。ownerごとにDOが分かれるとは表現していない。</a:t>
            </a:r>
          </a:p>
          <a:p>
            <a:r>
              <a:t>TELEMETRY=TelemetryDO:固定項目のイベント、モデル/Provider/turn trace、集計を保持し7日で期限処理する。本文・秘密・生座標は記録しない。プラットフォームObservabilityはWranglerでenabledであるが、外部ログの保存面の検収は別。</a:t>
            </a:r>
          </a:p>
          <a:p>
            <a:r>
              <a:t>APP_INTEGRITY=AppIntegrityDO: App Attest challenge/key reference/replay対策の保存先を実装する。実Apple verifierはcompositionに未注入で、デフォルトはfail closed。点線枠はこの未接続状態を示す。実機App Attest成功は未確認。</a:t>
            </a:r>
          </a:p>
          <a:p>
            <a:r>
              <a:t>JOURNEY_DATASETS=JourneyDatasetDO:終電datasetのactive revisionと履歴を保持する。管理入口は通常のowner認証と別のcredentialを使いimport/update/rollback/expireをrevision CASで実行する。現在のHot Pepper接続では終電を提供しない。</a:t>
            </a:r>
          </a:p>
          <a:p>
            <a:r>
              <a:t>外部呼び出しはThreadDO内のmodel/provider AdapterからOpenAIとHot Pepperへ行う。写真bytesだけは別経路で、iPhoneからGET /v1/photos/:tokenを呼び、Workerが認証、owner/device binding、期限を検証してHot Pepper画像CDNから取得する。写真tokenは最長30分、実体は永続保存しない。単純化のため写真の専用線は描いていない。</a:t>
            </a:r>
          </a:p>
          <a:p>
            <a:r>
              <a:t>SQLiteは端末上のサーバー状態の投影と復元情報、SecureStoreは端末認証情報を保持する。owner credentialは端末生成し、WorkerがhashしてownerScopeRefを導出する。共有API鍵は端末に渡さない。</a:t>
            </a:r>
          </a:p>
          <a:p>
            <a:r>
              <a:t>GitHub Actions quality.ymlは品質ゲートを行い、config-dry-run.ymlは3環境の型生成とwrangler deploy --dry-runのみを行う。CDが自動デプロイする図ではない。EASはdevelopment/internal/externalのprofileを定義するが、profile定義は実機、署名、TestFlight配布の検収を意味しない。environment-preflight.runtimeVerifiedおよびrelease-preflight.releaseAllowedは現行コードでfalse。D1/R2/KV/QueuesやGoogle APIはこの実装構成に含めていない。</a:t>
            </a:r>
          </a:p>
          <a:p>
            <a:endParaRPr/>
          </a:p>
          <a:p>
            <a:r>
              <a:t>根拠（main e8e3ee48138708cf1cad2d00db365e9a96c0bc47）</a:t>
            </a:r>
          </a:p>
          <a:p>
            <a:endParaRPr/>
          </a:p>
          <a:p>
            <a:r>
              <a:t>https://github.com/takapom/ima-app/blob/e8e3ee48138708cf1cad2d00db365e9a96c0bc47/worker/wrangler.jsonc</a:t>
            </a:r>
          </a:p>
          <a:p>
            <a:endParaRPr/>
          </a:p>
          <a:p>
            <a:r>
              <a:t>https://github.com/takapom/ima-app/blob/e8e3ee48138708cf1cad2d00db365e9a96c0bc47/worker/entrypoints/cloudflare/worker.ts</a:t>
            </a:r>
          </a:p>
          <a:p>
            <a:endParaRPr/>
          </a:p>
          <a:p>
            <a:r>
              <a:t>https://github.com/takapom/ima-app/blob/e8e3ee48138708cf1cad2d00db365e9a96c0bc47/worker/entrypoints/cloudflare/thread-do.ts</a:t>
            </a:r>
          </a:p>
          <a:p>
            <a:endParaRPr/>
          </a:p>
          <a:p>
            <a:r>
              <a:t>https://github.com/takapom/ima-app/blob/e8e3ee48138708cf1cad2d00db365e9a96c0bc47/worker/composition/bootstrap.ts</a:t>
            </a:r>
          </a:p>
          <a:p>
            <a:endParaRPr/>
          </a:p>
          <a:p>
            <a:r>
              <a:t>https://github.com/takapom/ima-app/blob/e8e3ee48138708cf1cad2d00db365e9a96c0bc47/worker/composition/app-integrity-bootstrap.ts</a:t>
            </a:r>
          </a:p>
          <a:p>
            <a:endParaRPr/>
          </a:p>
          <a:p>
            <a:r>
              <a:t>https://github.com/takapom/ima-app/blob/e8e3ee48138708cf1cad2d00db365e9a96c0bc47/worker/infrastructure/adapters/outbound/persistence/saved-references/durable-owner-store.ts</a:t>
            </a:r>
          </a:p>
          <a:p>
            <a:endParaRPr/>
          </a:p>
          <a:p>
            <a:r>
              <a:t>https://github.com/takapom/ima-app/blob/e8e3ee48138708cf1cad2d00db365e9a96c0bc47/worker/infrastructure/adapters/outbound/persistence/security/durable-rate-limiter.ts</a:t>
            </a:r>
          </a:p>
          <a:p>
            <a:endParaRPr/>
          </a:p>
          <a:p>
            <a:r>
              <a:t>https://github.com/takapom/ima-app/blob/e8e3ee48138708cf1cad2d00db365e9a96c0bc47/worker/infrastructure/adapters/outbound/persistence/telemetry/telemetry-do.ts</a:t>
            </a:r>
          </a:p>
          <a:p>
            <a:endParaRPr/>
          </a:p>
          <a:p>
            <a:r>
              <a:t>https://github.com/takapom/ima-app/blob/e8e3ee48138708cf1cad2d00db365e9a96c0bc47/worker/infrastructure/adapters/outbound/persistence/security/app-integrity-do.ts</a:t>
            </a:r>
          </a:p>
          <a:p>
            <a:endParaRPr/>
          </a:p>
          <a:p>
            <a:r>
              <a:t>https://github.com/takapom/ima-app/blob/e8e3ee48138708cf1cad2d00db365e9a96c0bc47/worker/infrastructure/adapters/outbound/persistence/last-train/dataset-do.ts</a:t>
            </a:r>
          </a:p>
          <a:p>
            <a:endParaRPr/>
          </a:p>
          <a:p>
            <a:r>
              <a:t>https://github.com/takapom/ima-app/blob/e8e3ee48138708cf1cad2d00db365e9a96c0bc47/worker/infrastructure/adapters/inbound/http/photo-body-handler.ts</a:t>
            </a:r>
          </a:p>
          <a:p>
            <a:endParaRPr/>
          </a:p>
          <a:p>
            <a:r>
              <a:t>https://github.com/takapom/ima-app/blob/e8e3ee48138708cf1cad2d00db365e9a96c0bc47/worker/infrastructure/adapters/outbound/providers/hot-pepper/photo-transport.ts</a:t>
            </a:r>
          </a:p>
          <a:p>
            <a:endParaRPr/>
          </a:p>
          <a:p>
            <a:r>
              <a:t>https://github.com/takapom/ima-app/blob/e8e3ee48138708cf1cad2d00db365e9a96c0bc47/apps/mobile/src/services/sqlite/native.ts</a:t>
            </a:r>
          </a:p>
          <a:p>
            <a:endParaRPr/>
          </a:p>
          <a:p>
            <a:r>
              <a:t>https://github.com/takapom/ima-app/blob/e8e3ee48138708cf1cad2d00db365e9a96c0bc47/apps/mobile/src/services/runtime/native-credentials.ts</a:t>
            </a:r>
          </a:p>
          <a:p>
            <a:endParaRPr/>
          </a:p>
          <a:p>
            <a:r>
              <a:t>https://github.com/takapom/ima-app/blob/e8e3ee48138708cf1cad2d00db365e9a96c0bc47/.github/workflows/quality.yml</a:t>
            </a:r>
          </a:p>
          <a:p>
            <a:endParaRPr/>
          </a:p>
          <a:p>
            <a:r>
              <a:t>https://github.com/takapom/ima-app/blob/e8e3ee48138708cf1cad2d00db365e9a96c0bc47/.github/workflows/config-dry-run.yml</a:t>
            </a:r>
          </a:p>
          <a:p>
            <a:endParaRPr/>
          </a:p>
          <a:p>
            <a:r>
              <a:t>https://github.com/takapom/ima-app/blob/e8e3ee48138708cf1cad2d00db365e9a96c0bc47/apps/mobile/eas.json</a:t>
            </a:r>
          </a:p>
          <a:p>
            <a:endParaRPr/>
          </a:p>
          <a:p>
            <a:r>
              <a:t>https://github.com/takapom/ima-app/blob/e8e3ee48138708cf1cad2d00db365e9a96c0bc47/scripts/environment-preflight.ts</a:t>
            </a:r>
          </a:p>
          <a:p>
            <a:endParaRPr/>
          </a:p>
          <a:p>
            <a:r>
              <a:t>https://github.com/takapom/ima-app/blob/e8e3ee48138708cf1cad2d00db365e9a96c0bc47/scripts/release-preflight.ts</a:t>
            </a:r>
          </a:p>
          <a:p>
            <a:endParaRPr/>
          </a:p>
          <a:p>
            <a:r>
              <a:t>https://github.com/takapom/ima-app/blob/e8e3ee48138708cf1cad2d00db365e9a96c0bc47/docs/operations.md</a:t>
            </a:r>
          </a:p>
          <a:p>
            <a:endParaRPr/>
          </a:p>
          <a:p>
            <a:r>
              <a:t>補足説明</a:t>
            </a:r>
          </a:p>
          <a:p>
            <a:endParaRPr/>
          </a:p>
          <a:p>
            <a:r>
              <a:t>2026.09.19  /  staging・production の既定値は disabled。稼働状態・外部配布の検収は別途。</a:t>
            </a:r>
          </a:p>
          <a:p>
            <a:endParaRPr/>
          </a:p>
          <a:p>
            <a:r>
              <a:t>点線枠：binding は定義済み。App Attest は検証器未接続、終電は現在未提供</a:t>
            </a:r>
          </a:p>
          <a:p>
            <a:endParaRPr/>
          </a:p>
          <a:p>
            <a:r>
              <a:t>GitHub Actions  品質検査・dry-run</a:t>
            </a:r>
          </a:p>
          <a:p>
            <a:endParaRPr/>
          </a:p>
          <a:p>
            <a:r>
              <a:t>Wrangler  dev / staging / production</a:t>
            </a:r>
          </a:p>
          <a:p>
            <a:endParaRPr/>
          </a:p>
          <a:p>
            <a:r>
              <a:t>EAS  開発・内部・外部の構成</a:t>
            </a:r>
          </a:p>
          <a:p>
            <a:endParaRPr/>
          </a:p>
          <a:p>
            <a:r>
              <a:t>使用アイコンの公式配布元（図中は製品・技術の識別を目的とし、各社の推奨・提携を表さない）</a:t>
            </a:r>
          </a:p>
          <a:p>
            <a:endParaRPr/>
          </a:p>
          <a:p>
            <a:r>
              <a:t>expo: https://expo.dev/brand (配布先 https://github.com/expo/logos)</a:t>
            </a:r>
          </a:p>
          <a:p>
            <a:endParaRPr/>
          </a:p>
          <a:p>
            <a:r>
              <a:t>sqlite: https://sqlite.org/images/sqlite370_banner.svg</a:t>
            </a:r>
          </a:p>
          <a:p>
            <a:endParaRPr/>
          </a:p>
          <a:p>
            <a:r>
              <a:t>cloudflare: https://github.com/cloudflare/cloudflare-docs/blob/production/src/assets/logo.svg</a:t>
            </a:r>
          </a:p>
          <a:p>
            <a:endParaRPr/>
          </a:p>
          <a:p>
            <a:r>
              <a:t>workers: https://github.com/cloudflare/cloudflare-docs/blob/production/src/icons/workers.svg</a:t>
            </a:r>
          </a:p>
          <a:p>
            <a:endParaRPr/>
          </a:p>
          <a:p>
            <a:r>
              <a:t>durable: https://github.com/cloudflare/cloudflare-docs/blob/production/src/icons/durable-objects.svg</a:t>
            </a:r>
          </a:p>
          <a:p>
            <a:endParaRPr/>
          </a:p>
          <a:p>
            <a:r>
              <a:t>openai: https://openai.com/brand/ (配布先 https://cdn.openai.com/brand/openai-logos.zip)</a:t>
            </a:r>
          </a:p>
          <a:p>
            <a:endParaRPr/>
          </a:p>
          <a:p>
            <a:r>
              <a:t>hotpepper: https://webservice.recruit.co.jp/common/images/logo_hotopepper_264x45.png</a:t>
            </a:r>
          </a:p>
          <a:p>
            <a:endParaRPr/>
          </a:p>
          <a:p>
            <a:r>
              <a:t>技術スタック</a:t>
            </a:r>
          </a:p>
          <a:p>
            <a:endParaRPr/>
          </a:p>
          <a:p>
            <a:r>
              <a:t>Bun 1.3.8はworkspaceのパッケージ管理とスクリプト実行、Vitest 4.1.11はテスト、GitHub Actionsは品質検査と設定dry-runを担う。Node.js 24系もCIのtoolchainに使うが、Workerの実行基盤はCloudflareである。Wrangler 4.130.0はローカル実行・環境設定・dry-runに使う。EASはdevelopment/internal/externalのビルドprofileが定義されている。図の開発・品質検査層は本番の自動デプロイや外部配布の完了を示さない。EASには公式Expoマーク、Wranglerには公式Cloudflareマーク、GitHub Actionsには公式GitHubマークを使用し、それぞれを短いラベルで識別する。</a:t>
            </a:r>
          </a:p>
          <a:p>
            <a:endParaRPr/>
          </a:p>
          <a:p>
            <a:r>
              <a:t>https://github.com/takapom/ima-app/blob/e8e3ee48138708cf1cad2d00db365e9a96c0bc47/package.json</a:t>
            </a:r>
          </a:p>
          <a:p>
            <a:endParaRPr/>
          </a:p>
          <a:p>
            <a:r>
              <a:t>https://github.com/takapom/ima-app/blob/e8e3ee48138708cf1cad2d00db365e9a96c0bc47/apps/mobile/package.json</a:t>
            </a:r>
          </a:p>
          <a:p>
            <a:endParaRPr/>
          </a:p>
          <a:p>
            <a:r>
              <a:t>https://github.com/takapom/ima-app/blob/e8e3ee48138708cf1cad2d00db365e9a96c0bc47/worker/package.json</a:t>
            </a:r>
          </a:p>
          <a:p>
            <a:endParaRPr/>
          </a:p>
          <a:p>
            <a:r>
              <a:t>https://github.com/takapom/ima-app/blob/e8e3ee48138708cf1cad2d00db365e9a96c0bc47/worker/core/package.json</a:t>
            </a:r>
          </a:p>
          <a:p>
            <a:endParaRPr/>
          </a:p>
          <a:p>
            <a:r>
              <a:t>https://github.com/takapom/ima-app/blob/e8e3ee48138708cf1cad2d00db365e9a96c0bc47/packages/contracts/package.json</a:t>
            </a:r>
          </a:p>
          <a:p>
            <a:endParaRPr/>
          </a:p>
          <a:p>
            <a:r>
              <a:t>https://github.com/takapom/ima-app/blob/e8e3ee48138708cf1cad2d00db365e9a96c0bc47/.github/workflows/quality.yml</a:t>
            </a:r>
          </a:p>
          <a:p>
            <a:endParaRPr/>
          </a:p>
          <a:p>
            <a:r>
              <a:t>https://github.com/takapom/ima-app/blob/e8e3ee48138708cf1cad2d00db365e9a96c0bc47/.github/workflows/config-dry-run.yml</a:t>
            </a:r>
          </a:p>
          <a:p>
            <a:endParaRPr/>
          </a:p>
          <a:p>
            <a:r>
              <a:t>https://github.com/takapom/ima-app/blob/e8e3ee48138708cf1cad2d00db365e9a96c0bc47/apps/mobile/eas.json</a:t>
            </a:r>
          </a:p>
          <a:p>
            <a:endParaRPr/>
          </a:p>
          <a:p>
            <a:r>
              <a:t>図中の補足</a:t>
            </a:r>
          </a:p>
          <a:p>
            <a:endParaRPr/>
          </a:p>
          <a:p>
            <a:r>
              <a:t>アイコン中心の表示では React Native、Expo、Cloudflare、Workers、OpenAI、SQLite、Hot Pepper の公式配布素材を製品識別に使用する。自作の論理コンポーネントは名称で示す。図中から省略した実装名と詳細は上記ノートを参照。</a:t>
            </a:r>
          </a:p>
          <a:p>
            <a:endParaRPr/>
          </a:p>
          <a:p>
            <a:r>
              <a:t>react: https://github.com/facebook/react/blob/main/fixtures/dom/public/react-logo.svg</a:t>
            </a:r>
          </a:p>
          <a:p>
            <a:endParaRPr/>
          </a:p>
          <a:p>
            <a:r>
              <a:t>expo: https://expo.dev/brand (配布先 https://github.com/expo/logos)</a:t>
            </a:r>
          </a:p>
          <a:p>
            <a:endParaRPr/>
          </a:p>
          <a:p>
            <a:r>
              <a:t>sqlite: https://sqlite.org/images/sqlite370_banner.svg</a:t>
            </a:r>
          </a:p>
          <a:p>
            <a:endParaRPr/>
          </a:p>
          <a:p>
            <a:r>
              <a:t>cloudflare: https://github.com/cloudflare/cloudflare-docs/blob/production/src/assets/logo.svg</a:t>
            </a:r>
          </a:p>
          <a:p>
            <a:endParaRPr/>
          </a:p>
          <a:p>
            <a:r>
              <a:t>workersbrand: https://github.com/cloudflare/workers-sdk/blob/main/packages/workers-playground/public/workers-logo.svg</a:t>
            </a:r>
          </a:p>
          <a:p>
            <a:endParaRPr/>
          </a:p>
          <a:p>
            <a:r>
              <a:t>durable: https://github.com/cloudflare/cloudflare-docs/blob/production/src/icons/durable-objects.svg</a:t>
            </a:r>
          </a:p>
          <a:p>
            <a:endParaRPr/>
          </a:p>
          <a:p>
            <a:r>
              <a:t>openai: https://openai.com/brand/ (配布先 https://cdn.openai.com/brand/openai-logos.zip)</a:t>
            </a:r>
          </a:p>
          <a:p>
            <a:endParaRPr/>
          </a:p>
          <a:p>
            <a:r>
              <a:t>hotpepper: https://webservice.recruit.co.jp/common/images/logo_hotopepper_264x45.png</a:t>
            </a:r>
          </a:p>
          <a:p>
            <a:endParaRPr/>
          </a:p>
          <a:p>
            <a:r>
              <a:t>github: https://github.githubassets.com/images/modules/logos_page/GitHub-Mark.png</a:t>
            </a:r>
          </a:p>
          <a:p>
            <a:endParaRPr/>
          </a:p>
          <a:p>
            <a:r>
              <a:t>bun: https://github.com/oven-sh/bun/blob/main/docs/logo/logo.svg</a:t>
            </a:r>
          </a:p>
          <a:p>
            <a:endParaRPr/>
          </a:p>
          <a:p>
            <a:r>
              <a:t>vitest: https://github.com/vitest-dev/vitest/blob/main/docs/public/logo.svg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-1">
            <a:extLst>
              <a:ext uri="{FF2B5EF4-FFF2-40B4-BE49-F238E27FC236}">
                <a16:creationId xmlns:a16="http://schemas.microsoft.com/office/drawing/2014/main" id="{0C751FF9-A79E-4523-8108-EEB768E050E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285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全体アーキテクチャ</a:t>
            </a: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835FD1E6-6BD3-4D47-A5B7-2B2FDC29CF22}"/>
              </a:ext>
            </a:extLst>
          </p:cNvPr>
          <p:cNvSpPr>
            <a:spLocks noGrp="1"/>
          </p:cNvSpPr>
          <p:nvPr/>
        </p:nvSpPr>
        <p:spPr>
          <a:xfrm>
            <a:off x="13811250" y="419100"/>
            <a:ext cx="838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2550" b="1">
                <a:solidFill>
                  <a:srgbClr val="007F7B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07F7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title-rule-1">
            <a:extLst>
              <a:ext uri="{FF2B5EF4-FFF2-40B4-BE49-F238E27FC236}">
                <a16:creationId xmlns:a16="http://schemas.microsoft.com/office/drawing/2014/main" id="{A2D96FFB-1D42-475B-8261-3220E32679F5}"/>
              </a:ext>
            </a:extLst>
          </p:cNvPr>
          <p:cNvSpPr>
            <a:spLocks noGrp="1"/>
          </p:cNvSpPr>
          <p:nvPr/>
        </p:nvSpPr>
        <p:spPr>
          <a:xfrm>
            <a:off x="609600" y="1171575"/>
            <a:ext cx="14020800" cy="19050"/>
          </a:xfrm>
          <a:prstGeom prst="rect">
            <a:avLst/>
          </a:prstGeom>
          <a:solidFill>
            <a:srgbClr val="C7D4D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mobile">
            <a:extLst>
              <a:ext uri="{FF2B5EF4-FFF2-40B4-BE49-F238E27FC236}">
                <a16:creationId xmlns:a16="http://schemas.microsoft.com/office/drawing/2014/main" id="{ADFA43D4-CB26-4A4D-B7EA-065D65F1B118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2571750" cy="4152900"/>
          </a:xfrm>
          <a:prstGeom prst="roundRect">
            <a:avLst>
              <a:gd name="adj" fmla="val 4444"/>
            </a:avLst>
          </a:prstGeom>
          <a:solidFill>
            <a:srgbClr val="F7F9FA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1" name="図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" y="3603605"/>
            <a:ext cx="866775" cy="771430"/>
          </a:xfrm>
          <a:prstGeom prst="rect">
            <a:avLst/>
          </a:prstGeom>
        </p:spPr>
      </p:pic>
      <p:pic>
        <p:nvPicPr>
          <p:cNvPr id="52" name="図 5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085975" y="3692390"/>
            <a:ext cx="647700" cy="593860"/>
          </a:xfrm>
          <a:prstGeom prst="rect">
            <a:avLst/>
          </a:prstGeom>
        </p:spPr>
      </p:pic>
      <p:sp>
        <p:nvSpPr>
          <p:cNvPr id="8" name="mobile-app">
            <a:extLst>
              <a:ext uri="{FF2B5EF4-FFF2-40B4-BE49-F238E27FC236}">
                <a16:creationId xmlns:a16="http://schemas.microsoft.com/office/drawing/2014/main" id="{B156CFFF-5CB1-4A38-B22C-6527CDED9515}"/>
              </a:ext>
            </a:extLst>
          </p:cNvPr>
          <p:cNvSpPr>
            <a:spLocks noGrp="1"/>
          </p:cNvSpPr>
          <p:nvPr/>
        </p:nvSpPr>
        <p:spPr>
          <a:xfrm>
            <a:off x="873919" y="2959023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dirty="0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iPhone </a:t>
            </a:r>
          </a:p>
        </p:txBody>
      </p:sp>
      <p:sp>
        <p:nvSpPr>
          <p:cNvPr id="10" name="worker">
            <a:extLst>
              <a:ext uri="{FF2B5EF4-FFF2-40B4-BE49-F238E27FC236}">
                <a16:creationId xmlns:a16="http://schemas.microsoft.com/office/drawing/2014/main" id="{E7F47FDD-06A0-41D0-B2D8-552B5AD14209}"/>
              </a:ext>
            </a:extLst>
          </p:cNvPr>
          <p:cNvSpPr>
            <a:spLocks noGrp="1"/>
          </p:cNvSpPr>
          <p:nvPr/>
        </p:nvSpPr>
        <p:spPr>
          <a:xfrm>
            <a:off x="4010025" y="2305050"/>
            <a:ext cx="7334250" cy="5143500"/>
          </a:xfrm>
          <a:prstGeom prst="roundRect">
            <a:avLst>
              <a:gd name="adj" fmla="val 2222"/>
            </a:avLst>
          </a:prstGeom>
          <a:solidFill>
            <a:srgbClr val="EFF5FA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6" name="図 5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05300" y="2604751"/>
            <a:ext cx="1133475" cy="515023"/>
          </a:xfrm>
          <a:prstGeom prst="rect">
            <a:avLst/>
          </a:prstGeom>
        </p:spPr>
      </p:pic>
      <p:sp>
        <p:nvSpPr>
          <p:cNvPr id="12" name="http">
            <a:extLst>
              <a:ext uri="{FF2B5EF4-FFF2-40B4-BE49-F238E27FC236}">
                <a16:creationId xmlns:a16="http://schemas.microsoft.com/office/drawing/2014/main" id="{03A4B433-2A71-49D4-9DC5-0EE68EAF0D13}"/>
              </a:ext>
            </a:extLst>
          </p:cNvPr>
          <p:cNvSpPr>
            <a:spLocks noGrp="1"/>
          </p:cNvSpPr>
          <p:nvPr/>
        </p:nvSpPr>
        <p:spPr>
          <a:xfrm>
            <a:off x="4305300" y="3743325"/>
            <a:ext cx="1943100" cy="169545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8" name="図 5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467225" y="4111823"/>
            <a:ext cx="1619250" cy="425053"/>
          </a:xfrm>
          <a:prstGeom prst="rect">
            <a:avLst/>
          </a:prstGeom>
        </p:spPr>
      </p:pic>
      <p:sp>
        <p:nvSpPr>
          <p:cNvPr id="15" name="runtime">
            <a:extLst>
              <a:ext uri="{FF2B5EF4-FFF2-40B4-BE49-F238E27FC236}">
                <a16:creationId xmlns:a16="http://schemas.microsoft.com/office/drawing/2014/main" id="{19DB348A-5719-4E52-8025-ED6BF68505C3}"/>
              </a:ext>
            </a:extLst>
          </p:cNvPr>
          <p:cNvSpPr>
            <a:spLocks noGrp="1"/>
          </p:cNvSpPr>
          <p:nvPr/>
        </p:nvSpPr>
        <p:spPr>
          <a:xfrm>
            <a:off x="7029450" y="3533775"/>
            <a:ext cx="4010025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1" name="図 6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720138" y="3714750"/>
            <a:ext cx="628650" cy="628650"/>
          </a:xfrm>
          <a:prstGeom prst="rect">
            <a:avLst/>
          </a:prstGeom>
        </p:spPr>
      </p:pic>
      <p:sp>
        <p:nvSpPr>
          <p:cNvPr id="17" name="runtime-name">
            <a:extLst>
              <a:ext uri="{FF2B5EF4-FFF2-40B4-BE49-F238E27FC236}">
                <a16:creationId xmlns:a16="http://schemas.microsoft.com/office/drawing/2014/main" id="{0DC25DA8-52AD-4AEE-AE47-BF7738AAA02F}"/>
              </a:ext>
            </a:extLst>
          </p:cNvPr>
          <p:cNvSpPr>
            <a:spLocks noGrp="1"/>
          </p:cNvSpPr>
          <p:nvPr/>
        </p:nvSpPr>
        <p:spPr>
          <a:xfrm>
            <a:off x="7124700" y="4514850"/>
            <a:ext cx="38195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会話エージェント</a:t>
            </a:r>
          </a:p>
        </p:txBody>
      </p:sp>
      <p:sp>
        <p:nvSpPr>
          <p:cNvPr id="18" name="runtime-sub">
            <a:extLst>
              <a:ext uri="{FF2B5EF4-FFF2-40B4-BE49-F238E27FC236}">
                <a16:creationId xmlns:a16="http://schemas.microsoft.com/office/drawing/2014/main" id="{CAA2685C-1A68-41B5-9BF7-EDE1DBCCBC47}"/>
              </a:ext>
            </a:extLst>
          </p:cNvPr>
          <p:cNvSpPr>
            <a:spLocks noGrp="1"/>
          </p:cNvSpPr>
          <p:nvPr/>
        </p:nvSpPr>
        <p:spPr>
          <a:xfrm>
            <a:off x="7105650" y="4962525"/>
            <a:ext cx="3857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Think / ThreadDO</a:t>
            </a:r>
          </a:p>
        </p:txBody>
      </p:sp>
      <p:sp>
        <p:nvSpPr>
          <p:cNvPr id="19" name="owner-api">
            <a:extLst>
              <a:ext uri="{FF2B5EF4-FFF2-40B4-BE49-F238E27FC236}">
                <a16:creationId xmlns:a16="http://schemas.microsoft.com/office/drawing/2014/main" id="{F5F93D1C-3BED-42ED-A04D-07BD2DFDB551}"/>
              </a:ext>
            </a:extLst>
          </p:cNvPr>
          <p:cNvSpPr>
            <a:spLocks noGrp="1"/>
          </p:cNvSpPr>
          <p:nvPr/>
        </p:nvSpPr>
        <p:spPr>
          <a:xfrm>
            <a:off x="4305300" y="6076950"/>
            <a:ext cx="19431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owner-api-name">
            <a:extLst>
              <a:ext uri="{FF2B5EF4-FFF2-40B4-BE49-F238E27FC236}">
                <a16:creationId xmlns:a16="http://schemas.microsoft.com/office/drawing/2014/main" id="{1E833FD3-0CEE-4BB7-B6FC-739C43169D00}"/>
              </a:ext>
            </a:extLst>
          </p:cNvPr>
          <p:cNvSpPr>
            <a:spLocks noGrp="1"/>
          </p:cNvSpPr>
          <p:nvPr/>
        </p:nvSpPr>
        <p:spPr>
          <a:xfrm>
            <a:off x="4400550" y="63531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保存・決定</a:t>
            </a:r>
          </a:p>
        </p:txBody>
      </p:sp>
      <p:sp>
        <p:nvSpPr>
          <p:cNvPr id="21" name="core">
            <a:extLst>
              <a:ext uri="{FF2B5EF4-FFF2-40B4-BE49-F238E27FC236}">
                <a16:creationId xmlns:a16="http://schemas.microsoft.com/office/drawing/2014/main" id="{A20947CC-CEE0-47B2-8DEF-E5D2BBD69424}"/>
              </a:ext>
            </a:extLst>
          </p:cNvPr>
          <p:cNvSpPr>
            <a:spLocks noGrp="1"/>
          </p:cNvSpPr>
          <p:nvPr/>
        </p:nvSpPr>
        <p:spPr>
          <a:xfrm>
            <a:off x="7029450" y="6076950"/>
            <a:ext cx="4010025" cy="1123950"/>
          </a:xfrm>
          <a:prstGeom prst="roundRect">
            <a:avLst>
              <a:gd name="adj" fmla="val 8475"/>
            </a:avLst>
          </a:prstGeom>
          <a:solidFill>
            <a:srgbClr val="EDF8F6"/>
          </a:solidFill>
          <a:ln w="12859">
            <a:solidFill>
              <a:srgbClr val="007F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core-name">
            <a:extLst>
              <a:ext uri="{FF2B5EF4-FFF2-40B4-BE49-F238E27FC236}">
                <a16:creationId xmlns:a16="http://schemas.microsoft.com/office/drawing/2014/main" id="{E64B1070-FA94-4C86-9A3A-5FE77B48472A}"/>
              </a:ext>
            </a:extLst>
          </p:cNvPr>
          <p:cNvSpPr>
            <a:spLocks noGrp="1"/>
          </p:cNvSpPr>
          <p:nvPr/>
        </p:nvSpPr>
        <p:spPr>
          <a:xfrm>
            <a:off x="7124700" y="6210300"/>
            <a:ext cx="38195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1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Core  業務ルール</a:t>
            </a:r>
          </a:p>
        </p:txBody>
      </p:sp>
      <p:sp>
        <p:nvSpPr>
          <p:cNvPr id="23" name="openai">
            <a:extLst>
              <a:ext uri="{FF2B5EF4-FFF2-40B4-BE49-F238E27FC236}">
                <a16:creationId xmlns:a16="http://schemas.microsoft.com/office/drawing/2014/main" id="{0AEC3937-BCE6-4A86-88C5-DB2A2E8EA2F0}"/>
              </a:ext>
            </a:extLst>
          </p:cNvPr>
          <p:cNvSpPr>
            <a:spLocks noGrp="1"/>
          </p:cNvSpPr>
          <p:nvPr/>
        </p:nvSpPr>
        <p:spPr>
          <a:xfrm>
            <a:off x="12163425" y="3533775"/>
            <a:ext cx="2466975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9" name="図 6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2653963" y="3409950"/>
            <a:ext cx="1485900" cy="1485900"/>
          </a:xfrm>
          <a:prstGeom prst="rect">
            <a:avLst/>
          </a:prstGeom>
        </p:spPr>
      </p:pic>
      <p:sp>
        <p:nvSpPr>
          <p:cNvPr id="25" name="openai-name">
            <a:extLst>
              <a:ext uri="{FF2B5EF4-FFF2-40B4-BE49-F238E27FC236}">
                <a16:creationId xmlns:a16="http://schemas.microsoft.com/office/drawing/2014/main" id="{82567182-C2FD-4E7B-999F-8D9B7A74FD31}"/>
              </a:ext>
            </a:extLst>
          </p:cNvPr>
          <p:cNvSpPr>
            <a:spLocks noGrp="1"/>
          </p:cNvSpPr>
          <p:nvPr/>
        </p:nvSpPr>
        <p:spPr>
          <a:xfrm>
            <a:off x="12258675" y="4810125"/>
            <a:ext cx="2276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7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Responses API</a:t>
            </a:r>
          </a:p>
        </p:txBody>
      </p:sp>
      <p:sp>
        <p:nvSpPr>
          <p:cNvPr id="26" name="hotpepper">
            <a:extLst>
              <a:ext uri="{FF2B5EF4-FFF2-40B4-BE49-F238E27FC236}">
                <a16:creationId xmlns:a16="http://schemas.microsoft.com/office/drawing/2014/main" id="{4AB3E328-17E1-4278-990E-42C9A9D6E7C1}"/>
              </a:ext>
            </a:extLst>
          </p:cNvPr>
          <p:cNvSpPr>
            <a:spLocks noGrp="1"/>
          </p:cNvSpPr>
          <p:nvPr/>
        </p:nvSpPr>
        <p:spPr>
          <a:xfrm>
            <a:off x="12163425" y="5857875"/>
            <a:ext cx="2466975" cy="113347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2" name="図 71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307253" y="6048375"/>
            <a:ext cx="2179320" cy="371475"/>
          </a:xfrm>
          <a:prstGeom prst="rect">
            <a:avLst/>
          </a:prstGeom>
        </p:spPr>
      </p:pic>
      <p:sp>
        <p:nvSpPr>
          <p:cNvPr id="28" name="hotpepper-name">
            <a:extLst>
              <a:ext uri="{FF2B5EF4-FFF2-40B4-BE49-F238E27FC236}">
                <a16:creationId xmlns:a16="http://schemas.microsoft.com/office/drawing/2014/main" id="{F1478531-085F-442E-A3B9-AF5C72543E0A}"/>
              </a:ext>
            </a:extLst>
          </p:cNvPr>
          <p:cNvSpPr>
            <a:spLocks noGrp="1"/>
          </p:cNvSpPr>
          <p:nvPr/>
        </p:nvSpPr>
        <p:spPr>
          <a:xfrm>
            <a:off x="12258675" y="6581775"/>
            <a:ext cx="2276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店舗データ</a:t>
            </a:r>
          </a:p>
        </p:txBody>
      </p:sp>
      <p:sp>
        <p:nvSpPr>
          <p:cNvPr id="29" name="https">
            <a:extLst>
              <a:ext uri="{FF2B5EF4-FFF2-40B4-BE49-F238E27FC236}">
                <a16:creationId xmlns:a16="http://schemas.microsoft.com/office/drawing/2014/main" id="{E5007EDF-0371-452F-95B8-32CD2FC92522}"/>
              </a:ext>
            </a:extLst>
          </p:cNvPr>
          <p:cNvSpPr>
            <a:spLocks noGrp="1"/>
          </p:cNvSpPr>
          <p:nvPr/>
        </p:nvSpPr>
        <p:spPr>
          <a:xfrm>
            <a:off x="3190875" y="4267200"/>
            <a:ext cx="10668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HTTPS</a:t>
            </a:r>
          </a:p>
        </p:txBody>
      </p:sp>
      <p:sp>
        <p:nvSpPr>
          <p:cNvPr id="30" name="tool-binding">
            <a:extLst>
              <a:ext uri="{FF2B5EF4-FFF2-40B4-BE49-F238E27FC236}">
                <a16:creationId xmlns:a16="http://schemas.microsoft.com/office/drawing/2014/main" id="{1DB85E0B-23A4-429A-B409-4EE20D82B54E}"/>
              </a:ext>
            </a:extLst>
          </p:cNvPr>
          <p:cNvSpPr>
            <a:spLocks noGrp="1"/>
          </p:cNvSpPr>
          <p:nvPr/>
        </p:nvSpPr>
        <p:spPr>
          <a:xfrm>
            <a:off x="9191625" y="5600700"/>
            <a:ext cx="914400" cy="266700"/>
          </a:xfrm>
          <a:prstGeom prst="rect">
            <a:avLst/>
          </a:prstGeom>
          <a:solidFill>
            <a:srgbClr val="EFF5FA"/>
          </a:solidFill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4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3 Tools</a:t>
            </a:r>
          </a:p>
        </p:txBody>
      </p:sp>
      <p:sp>
        <p:nvSpPr>
          <p:cNvPr id="31" name="react-label">
            <a:extLst>
              <a:ext uri="{FF2B5EF4-FFF2-40B4-BE49-F238E27FC236}">
                <a16:creationId xmlns:a16="http://schemas.microsoft.com/office/drawing/2014/main" id="{989FE71A-0BFA-4994-87B7-A7AC186D38DA}"/>
              </a:ext>
            </a:extLst>
          </p:cNvPr>
          <p:cNvSpPr>
            <a:spLocks noGrp="1"/>
          </p:cNvSpPr>
          <p:nvPr/>
        </p:nvSpPr>
        <p:spPr>
          <a:xfrm>
            <a:off x="731044" y="4476750"/>
            <a:ext cx="12668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dirty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React Native</a:t>
            </a:r>
          </a:p>
        </p:txBody>
      </p:sp>
      <p:sp>
        <p:nvSpPr>
          <p:cNvPr id="32" name="expo-label">
            <a:extLst>
              <a:ext uri="{FF2B5EF4-FFF2-40B4-BE49-F238E27FC236}">
                <a16:creationId xmlns:a16="http://schemas.microsoft.com/office/drawing/2014/main" id="{0B54173C-9A0C-433C-833F-D3381B6F5A86}"/>
              </a:ext>
            </a:extLst>
          </p:cNvPr>
          <p:cNvSpPr>
            <a:spLocks noGrp="1"/>
          </p:cNvSpPr>
          <p:nvPr/>
        </p:nvSpPr>
        <p:spPr>
          <a:xfrm>
            <a:off x="2035969" y="4476750"/>
            <a:ext cx="790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dirty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Expo</a:t>
            </a:r>
          </a:p>
        </p:txBody>
      </p:sp>
      <p:pic>
        <p:nvPicPr>
          <p:cNvPr id="78" name="図 77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519238" y="5025116"/>
            <a:ext cx="719138" cy="719138"/>
          </a:xfrm>
          <a:prstGeom prst="rect">
            <a:avLst/>
          </a:prstGeom>
        </p:spPr>
      </p:pic>
      <p:sp>
        <p:nvSpPr>
          <p:cNvPr id="34" name="client-ts-label">
            <a:extLst>
              <a:ext uri="{FF2B5EF4-FFF2-40B4-BE49-F238E27FC236}">
                <a16:creationId xmlns:a16="http://schemas.microsoft.com/office/drawing/2014/main" id="{B467354D-B13E-4CFF-B54C-63B531243B1D}"/>
              </a:ext>
            </a:extLst>
          </p:cNvPr>
          <p:cNvSpPr>
            <a:spLocks noGrp="1"/>
          </p:cNvSpPr>
          <p:nvPr/>
        </p:nvSpPr>
        <p:spPr>
          <a:xfrm>
            <a:off x="1254919" y="594348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dirty="0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TypeScript</a:t>
            </a:r>
          </a:p>
        </p:txBody>
      </p:sp>
      <p:pic>
        <p:nvPicPr>
          <p:cNvPr id="80" name="図 7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9086850" y="2667000"/>
            <a:ext cx="400050" cy="400050"/>
          </a:xfrm>
          <a:prstGeom prst="rect">
            <a:avLst/>
          </a:prstGeom>
        </p:spPr>
      </p:pic>
      <p:sp>
        <p:nvSpPr>
          <p:cNvPr id="36" name="worker-ts-label">
            <a:extLst>
              <a:ext uri="{FF2B5EF4-FFF2-40B4-BE49-F238E27FC236}">
                <a16:creationId xmlns:a16="http://schemas.microsoft.com/office/drawing/2014/main" id="{2BF86C58-C41A-41F1-88AC-EB560F6D2566}"/>
              </a:ext>
            </a:extLst>
          </p:cNvPr>
          <p:cNvSpPr>
            <a:spLocks noGrp="1"/>
          </p:cNvSpPr>
          <p:nvPr/>
        </p:nvSpPr>
        <p:spPr>
          <a:xfrm>
            <a:off x="9601200" y="2728913"/>
            <a:ext cx="1457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TypeScript</a:t>
            </a:r>
          </a:p>
        </p:txBody>
      </p:sp>
      <p:pic>
        <p:nvPicPr>
          <p:cNvPr id="82" name="図 81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8229600" y="6705600"/>
            <a:ext cx="323850" cy="323850"/>
          </a:xfrm>
          <a:prstGeom prst="rect">
            <a:avLst/>
          </a:prstGeom>
        </p:spPr>
      </p:pic>
      <p:sp>
        <p:nvSpPr>
          <p:cNvPr id="38" name="core-schema-label">
            <a:extLst>
              <a:ext uri="{FF2B5EF4-FFF2-40B4-BE49-F238E27FC236}">
                <a16:creationId xmlns:a16="http://schemas.microsoft.com/office/drawing/2014/main" id="{64756EA3-D5ED-49AD-86D8-C848DD98F328}"/>
              </a:ext>
            </a:extLst>
          </p:cNvPr>
          <p:cNvSpPr>
            <a:spLocks noGrp="1"/>
          </p:cNvSpPr>
          <p:nvPr/>
        </p:nvSpPr>
        <p:spPr>
          <a:xfrm>
            <a:off x="8667750" y="6729413"/>
            <a:ext cx="1085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Valibot</a:t>
            </a:r>
          </a:p>
        </p:txBody>
      </p:sp>
      <p:cxnSp>
        <p:nvCxnSpPr>
          <p:cNvPr id="84" name="カギ線コネクタ 83"/>
          <p:cNvCxnSpPr>
            <a:cxnSpLocks/>
            <a:stCxn id="5" idx="3"/>
            <a:endCxn id="12" idx="1"/>
          </p:cNvCxnSpPr>
          <p:nvPr/>
        </p:nvCxnSpPr>
        <p:spPr>
          <a:xfrm flipV="1">
            <a:off x="3181350" y="4591050"/>
            <a:ext cx="1123950" cy="209550"/>
          </a:xfrm>
          <a:prstGeom prst="bentConnector3">
            <a:avLst>
              <a:gd name="adj1" fmla="val 50000"/>
            </a:avLst>
          </a:prstGeom>
          <a:ln w="19050">
            <a:solidFill>
              <a:srgbClr val="17649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85" name="カギ線コネクタ 84"/>
          <p:cNvCxnSpPr>
            <a:stCxn id="12" idx="3"/>
            <a:endCxn id="15" idx="1"/>
          </p:cNvCxnSpPr>
          <p:nvPr/>
        </p:nvCxnSpPr>
        <p:spPr>
          <a:xfrm flipV="1">
            <a:off x="6248400" y="4486275"/>
            <a:ext cx="781050" cy="104775"/>
          </a:xfrm>
          <a:prstGeom prst="bentConnector3">
            <a:avLst>
              <a:gd name="adj1" fmla="val 50000"/>
            </a:avLst>
          </a:prstGeom>
          <a:ln w="19050">
            <a:solidFill>
              <a:srgbClr val="17649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86" name="直線矢印コネクタ 85"/>
          <p:cNvCxnSpPr>
            <a:stCxn id="15" idx="3"/>
            <a:endCxn id="23" idx="1"/>
          </p:cNvCxnSpPr>
          <p:nvPr/>
        </p:nvCxnSpPr>
        <p:spPr>
          <a:xfrm>
            <a:off x="11039475" y="4486275"/>
            <a:ext cx="1123950" cy="0"/>
          </a:xfrm>
          <a:prstGeom prst="straightConnector1">
            <a:avLst/>
          </a:prstGeom>
          <a:ln w="19050">
            <a:solidFill>
              <a:srgbClr val="17649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87" name="直線矢印コネクタ 86"/>
          <p:cNvCxnSpPr>
            <a:stCxn id="15" idx="2"/>
            <a:endCxn id="21" idx="0"/>
          </p:cNvCxnSpPr>
          <p:nvPr/>
        </p:nvCxnSpPr>
        <p:spPr>
          <a:xfrm>
            <a:off x="9034463" y="5438775"/>
            <a:ext cx="0" cy="638175"/>
          </a:xfrm>
          <a:prstGeom prst="straightConnector1">
            <a:avLst/>
          </a:prstGeom>
          <a:ln w="19050">
            <a:solidFill>
              <a:srgbClr val="007F7B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88" name="直線矢印コネクタ 87"/>
          <p:cNvCxnSpPr>
            <a:stCxn id="12" idx="2"/>
            <a:endCxn id="19" idx="0"/>
          </p:cNvCxnSpPr>
          <p:nvPr/>
        </p:nvCxnSpPr>
        <p:spPr>
          <a:xfrm>
            <a:off x="5276850" y="5438775"/>
            <a:ext cx="0" cy="638175"/>
          </a:xfrm>
          <a:prstGeom prst="straightConnector1">
            <a:avLst/>
          </a:prstGeom>
          <a:ln w="19050">
            <a:solidFill>
              <a:srgbClr val="176491"/>
            </a:solidFill>
            <a:prstDash val="solid"/>
            <a:tailEnd type="triangle" w="sm" len="sm"/>
          </a:ln>
        </p:spPr>
      </p:cxnSp>
      <p:cxnSp>
        <p:nvCxnSpPr>
          <p:cNvPr id="89" name="カギ線コネクタ 88"/>
          <p:cNvCxnSpPr>
            <a:stCxn id="19" idx="3"/>
            <a:endCxn id="21" idx="1"/>
          </p:cNvCxnSpPr>
          <p:nvPr/>
        </p:nvCxnSpPr>
        <p:spPr>
          <a:xfrm>
            <a:off x="6248400" y="6534150"/>
            <a:ext cx="781050" cy="104775"/>
          </a:xfrm>
          <a:prstGeom prst="bentConnector3">
            <a:avLst>
              <a:gd name="adj1" fmla="val 50000"/>
            </a:avLst>
          </a:prstGeom>
          <a:ln w="19050">
            <a:solidFill>
              <a:srgbClr val="007F7B"/>
            </a:solidFill>
            <a:prstDash val="solid"/>
            <a:tailEnd type="triangle" w="sm" len="sm"/>
          </a:ln>
        </p:spPr>
      </p:cxnSp>
      <p:cxnSp>
        <p:nvCxnSpPr>
          <p:cNvPr id="90" name="カギ線コネクタ 89"/>
          <p:cNvCxnSpPr>
            <a:stCxn id="21" idx="3"/>
            <a:endCxn id="26" idx="1"/>
          </p:cNvCxnSpPr>
          <p:nvPr/>
        </p:nvCxnSpPr>
        <p:spPr>
          <a:xfrm flipV="1">
            <a:off x="11039475" y="6424613"/>
            <a:ext cx="1123950" cy="214313"/>
          </a:xfrm>
          <a:prstGeom prst="bentConnector3">
            <a:avLst>
              <a:gd name="adj1" fmla="val 50000"/>
            </a:avLst>
          </a:prstGeom>
          <a:ln w="19050">
            <a:solidFill>
              <a:srgbClr val="007F7B"/>
            </a:solidFill>
            <a:prstDash val="solid"/>
            <a:headEnd type="triangle" w="sm" len="sm"/>
            <a:tailEnd type="triangle" w="sm" len="sm"/>
          </a:ln>
        </p:spPr>
      </p:cxnSp>
      <p:pic>
        <p:nvPicPr>
          <p:cNvPr id="27" name="図 26">
            <a:extLst>
              <a:ext uri="{FF2B5EF4-FFF2-40B4-BE49-F238E27FC236}">
                <a16:creationId xmlns:a16="http://schemas.microsoft.com/office/drawing/2014/main" id="{C0199375-6E61-FD46-08EE-F52DCA9976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475" y="4687474"/>
            <a:ext cx="1476375" cy="55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24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-2">
            <a:extLst>
              <a:ext uri="{FF2B5EF4-FFF2-40B4-BE49-F238E27FC236}">
                <a16:creationId xmlns:a16="http://schemas.microsoft.com/office/drawing/2014/main" id="{C456DECD-F517-4633-AC58-C6A5F04CE5B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285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altLang="ja-JP" sz="3450" b="1" dirty="0" err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Agent</a:t>
            </a:r>
            <a:r>
              <a:rPr sz="3450" b="1" dirty="0" err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のアーキテクチャ</a:t>
            </a:r>
            <a:endParaRPr sz="3450" b="1" dirty="0">
              <a:solidFill>
                <a:srgbClr val="142E3B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BD146E0A-2D2A-4EC3-9BEF-9F4549469972}"/>
              </a:ext>
            </a:extLst>
          </p:cNvPr>
          <p:cNvSpPr>
            <a:spLocks noGrp="1"/>
          </p:cNvSpPr>
          <p:nvPr/>
        </p:nvSpPr>
        <p:spPr>
          <a:xfrm>
            <a:off x="13811250" y="419100"/>
            <a:ext cx="838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2550" b="1">
                <a:solidFill>
                  <a:srgbClr val="007F7B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07F7B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4" name="title-rule-2">
            <a:extLst>
              <a:ext uri="{FF2B5EF4-FFF2-40B4-BE49-F238E27FC236}">
                <a16:creationId xmlns:a16="http://schemas.microsoft.com/office/drawing/2014/main" id="{2C479C16-B140-47D9-B02A-126FF50AEEB4}"/>
              </a:ext>
            </a:extLst>
          </p:cNvPr>
          <p:cNvSpPr>
            <a:spLocks noGrp="1"/>
          </p:cNvSpPr>
          <p:nvPr/>
        </p:nvSpPr>
        <p:spPr>
          <a:xfrm>
            <a:off x="628650" y="1211264"/>
            <a:ext cx="14020800" cy="19050"/>
          </a:xfrm>
          <a:prstGeom prst="rect">
            <a:avLst/>
          </a:prstGeom>
          <a:solidFill>
            <a:srgbClr val="C7D4D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model">
            <a:extLst>
              <a:ext uri="{FF2B5EF4-FFF2-40B4-BE49-F238E27FC236}">
                <a16:creationId xmlns:a16="http://schemas.microsoft.com/office/drawing/2014/main" id="{3365A2BE-99B0-4357-952C-7CD5657CBDD2}"/>
              </a:ext>
            </a:extLst>
          </p:cNvPr>
          <p:cNvSpPr>
            <a:spLocks noGrp="1"/>
          </p:cNvSpPr>
          <p:nvPr/>
        </p:nvSpPr>
        <p:spPr>
          <a:xfrm>
            <a:off x="3714750" y="1981200"/>
            <a:ext cx="2571750" cy="157162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8" name="図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29125" y="1885950"/>
            <a:ext cx="1143000" cy="1143000"/>
          </a:xfrm>
          <a:prstGeom prst="rect">
            <a:avLst/>
          </a:prstGeom>
        </p:spPr>
      </p:pic>
      <p:sp>
        <p:nvSpPr>
          <p:cNvPr id="7" name="model-name">
            <a:extLst>
              <a:ext uri="{FF2B5EF4-FFF2-40B4-BE49-F238E27FC236}">
                <a16:creationId xmlns:a16="http://schemas.microsoft.com/office/drawing/2014/main" id="{86890C29-4E7D-43EA-AAD9-755433FCEBB1}"/>
              </a:ext>
            </a:extLst>
          </p:cNvPr>
          <p:cNvSpPr>
            <a:spLocks noGrp="1"/>
          </p:cNvSpPr>
          <p:nvPr/>
        </p:nvSpPr>
        <p:spPr>
          <a:xfrm>
            <a:off x="3810000" y="30384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Responses API</a:t>
            </a:r>
          </a:p>
        </p:txBody>
      </p:sp>
      <p:sp>
        <p:nvSpPr>
          <p:cNvPr id="8" name="provider">
            <a:extLst>
              <a:ext uri="{FF2B5EF4-FFF2-40B4-BE49-F238E27FC236}">
                <a16:creationId xmlns:a16="http://schemas.microsoft.com/office/drawing/2014/main" id="{F7C31D10-3DA9-4685-B859-26B59C0DD14C}"/>
              </a:ext>
            </a:extLst>
          </p:cNvPr>
          <p:cNvSpPr>
            <a:spLocks noGrp="1"/>
          </p:cNvSpPr>
          <p:nvPr/>
        </p:nvSpPr>
        <p:spPr>
          <a:xfrm>
            <a:off x="11239500" y="1981200"/>
            <a:ext cx="3219450" cy="1571625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1" name="図 6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620500" y="2276583"/>
            <a:ext cx="2457450" cy="418884"/>
          </a:xfrm>
          <a:prstGeom prst="rect">
            <a:avLst/>
          </a:prstGeom>
        </p:spPr>
      </p:pic>
      <p:sp>
        <p:nvSpPr>
          <p:cNvPr id="10" name="provider-name">
            <a:extLst>
              <a:ext uri="{FF2B5EF4-FFF2-40B4-BE49-F238E27FC236}">
                <a16:creationId xmlns:a16="http://schemas.microsoft.com/office/drawing/2014/main" id="{D78D8E38-7D76-4264-A2AC-524D865E41FC}"/>
              </a:ext>
            </a:extLst>
          </p:cNvPr>
          <p:cNvSpPr>
            <a:spLocks noGrp="1"/>
          </p:cNvSpPr>
          <p:nvPr/>
        </p:nvSpPr>
        <p:spPr>
          <a:xfrm>
            <a:off x="11334750" y="30289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店舗 API</a:t>
            </a:r>
          </a:p>
        </p:txBody>
      </p:sp>
      <p:sp>
        <p:nvSpPr>
          <p:cNvPr id="11" name="thread">
            <a:extLst>
              <a:ext uri="{FF2B5EF4-FFF2-40B4-BE49-F238E27FC236}">
                <a16:creationId xmlns:a16="http://schemas.microsoft.com/office/drawing/2014/main" id="{61DB538C-86F8-4F03-A9BE-194A16DC327C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4020800" cy="3676650"/>
          </a:xfrm>
          <a:prstGeom prst="roundRect">
            <a:avLst>
              <a:gd name="adj" fmla="val 3109"/>
            </a:avLst>
          </a:prstGeom>
          <a:solidFill>
            <a:srgbClr val="EFF5FA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4" name="図 6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9150" y="4191000"/>
            <a:ext cx="333375" cy="333375"/>
          </a:xfrm>
          <a:prstGeom prst="rect">
            <a:avLst/>
          </a:prstGeom>
        </p:spPr>
      </p:pic>
      <p:sp>
        <p:nvSpPr>
          <p:cNvPr id="13" name="thread-title">
            <a:extLst>
              <a:ext uri="{FF2B5EF4-FFF2-40B4-BE49-F238E27FC236}">
                <a16:creationId xmlns:a16="http://schemas.microsoft.com/office/drawing/2014/main" id="{24CBE8BE-5B65-4E7B-9156-E20DE70E3980}"/>
              </a:ext>
            </a:extLst>
          </p:cNvPr>
          <p:cNvSpPr>
            <a:spLocks noGrp="1"/>
          </p:cNvSpPr>
          <p:nvPr/>
        </p:nvSpPr>
        <p:spPr>
          <a:xfrm>
            <a:off x="1266825" y="4210050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1">
                <a:solidFill>
                  <a:srgbClr val="176491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76491"/>
                </a:solidFill>
                <a:latin typeface="Hiragino Sans"/>
                <a:ea typeface="Hiragino Sans"/>
                <a:cs typeface="Hiragino Sans"/>
              </a:rPr>
              <a:t>ThreadDO</a:t>
            </a:r>
          </a:p>
        </p:txBody>
      </p:sp>
      <p:sp>
        <p:nvSpPr>
          <p:cNvPr id="14" name="context">
            <a:extLst>
              <a:ext uri="{FF2B5EF4-FFF2-40B4-BE49-F238E27FC236}">
                <a16:creationId xmlns:a16="http://schemas.microsoft.com/office/drawing/2014/main" id="{2326DDE7-375C-4704-BBAD-EB60E8176D71}"/>
              </a:ext>
            </a:extLst>
          </p:cNvPr>
          <p:cNvSpPr>
            <a:spLocks noGrp="1"/>
          </p:cNvSpPr>
          <p:nvPr/>
        </p:nvSpPr>
        <p:spPr>
          <a:xfrm>
            <a:off x="857250" y="4810125"/>
            <a:ext cx="213360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context-name">
            <a:extLst>
              <a:ext uri="{FF2B5EF4-FFF2-40B4-BE49-F238E27FC236}">
                <a16:creationId xmlns:a16="http://schemas.microsoft.com/office/drawing/2014/main" id="{29BD3048-79AD-4643-8B79-14981EC8424F}"/>
              </a:ext>
            </a:extLst>
          </p:cNvPr>
          <p:cNvSpPr>
            <a:spLocks noGrp="1"/>
          </p:cNvSpPr>
          <p:nvPr/>
        </p:nvSpPr>
        <p:spPr>
          <a:xfrm>
            <a:off x="952500" y="5148263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1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入力・文脈</a:t>
            </a:r>
          </a:p>
        </p:txBody>
      </p:sp>
      <p:sp>
        <p:nvSpPr>
          <p:cNvPr id="16" name="think">
            <a:extLst>
              <a:ext uri="{FF2B5EF4-FFF2-40B4-BE49-F238E27FC236}">
                <a16:creationId xmlns:a16="http://schemas.microsoft.com/office/drawing/2014/main" id="{057B8D8B-685E-45B0-9E01-F53B417EA858}"/>
              </a:ext>
            </a:extLst>
          </p:cNvPr>
          <p:cNvSpPr>
            <a:spLocks noGrp="1"/>
          </p:cNvSpPr>
          <p:nvPr/>
        </p:nvSpPr>
        <p:spPr>
          <a:xfrm>
            <a:off x="3714750" y="4810125"/>
            <a:ext cx="25717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hink-name">
            <a:extLst>
              <a:ext uri="{FF2B5EF4-FFF2-40B4-BE49-F238E27FC236}">
                <a16:creationId xmlns:a16="http://schemas.microsoft.com/office/drawing/2014/main" id="{3651C86A-8B2D-4E0D-9804-379006558109}"/>
              </a:ext>
            </a:extLst>
          </p:cNvPr>
          <p:cNvSpPr>
            <a:spLocks noGrp="1"/>
          </p:cNvSpPr>
          <p:nvPr/>
        </p:nvSpPr>
        <p:spPr>
          <a:xfrm>
            <a:off x="4448175" y="5010150"/>
            <a:ext cx="16097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4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Think</a:t>
            </a:r>
          </a:p>
        </p:txBody>
      </p:sp>
      <p:sp>
        <p:nvSpPr>
          <p:cNvPr id="18" name="reads">
            <a:extLst>
              <a:ext uri="{FF2B5EF4-FFF2-40B4-BE49-F238E27FC236}">
                <a16:creationId xmlns:a16="http://schemas.microsoft.com/office/drawing/2014/main" id="{FF643D5E-589D-48A8-83BB-F7FA4D95DE67}"/>
              </a:ext>
            </a:extLst>
          </p:cNvPr>
          <p:cNvSpPr>
            <a:spLocks noGrp="1"/>
          </p:cNvSpPr>
          <p:nvPr/>
        </p:nvSpPr>
        <p:spPr>
          <a:xfrm>
            <a:off x="7105650" y="4810125"/>
            <a:ext cx="32194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reads-name">
            <a:extLst>
              <a:ext uri="{FF2B5EF4-FFF2-40B4-BE49-F238E27FC236}">
                <a16:creationId xmlns:a16="http://schemas.microsoft.com/office/drawing/2014/main" id="{A42F8F0B-720A-4775-8D91-C59D271A4D50}"/>
              </a:ext>
            </a:extLst>
          </p:cNvPr>
          <p:cNvSpPr>
            <a:spLocks noGrp="1"/>
          </p:cNvSpPr>
          <p:nvPr/>
        </p:nvSpPr>
        <p:spPr>
          <a:xfrm>
            <a:off x="7200900" y="4895850"/>
            <a:ext cx="30289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読み取り Tool</a:t>
            </a:r>
          </a:p>
        </p:txBody>
      </p:sp>
      <p:sp>
        <p:nvSpPr>
          <p:cNvPr id="20" name="adapter">
            <a:extLst>
              <a:ext uri="{FF2B5EF4-FFF2-40B4-BE49-F238E27FC236}">
                <a16:creationId xmlns:a16="http://schemas.microsoft.com/office/drawing/2014/main" id="{189DBED9-2A59-4F81-B486-E7FE691CA309}"/>
              </a:ext>
            </a:extLst>
          </p:cNvPr>
          <p:cNvSpPr>
            <a:spLocks noGrp="1"/>
          </p:cNvSpPr>
          <p:nvPr/>
        </p:nvSpPr>
        <p:spPr>
          <a:xfrm>
            <a:off x="11239500" y="4810125"/>
            <a:ext cx="3219450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adapter-name">
            <a:extLst>
              <a:ext uri="{FF2B5EF4-FFF2-40B4-BE49-F238E27FC236}">
                <a16:creationId xmlns:a16="http://schemas.microsoft.com/office/drawing/2014/main" id="{0599E7E8-B460-4C71-A9DF-876B38FF776F}"/>
              </a:ext>
            </a:extLst>
          </p:cNvPr>
          <p:cNvSpPr>
            <a:spLocks noGrp="1"/>
          </p:cNvSpPr>
          <p:nvPr/>
        </p:nvSpPr>
        <p:spPr>
          <a:xfrm>
            <a:off x="11334750" y="5148263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1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店舗データ取得</a:t>
            </a:r>
          </a:p>
        </p:txBody>
      </p:sp>
      <p:sp>
        <p:nvSpPr>
          <p:cNvPr id="22" name="retention">
            <a:extLst>
              <a:ext uri="{FF2B5EF4-FFF2-40B4-BE49-F238E27FC236}">
                <a16:creationId xmlns:a16="http://schemas.microsoft.com/office/drawing/2014/main" id="{C2CD3B48-C2F3-4327-8E3A-3769121B6D4C}"/>
              </a:ext>
            </a:extLst>
          </p:cNvPr>
          <p:cNvSpPr>
            <a:spLocks noGrp="1"/>
          </p:cNvSpPr>
          <p:nvPr/>
        </p:nvSpPr>
        <p:spPr>
          <a:xfrm>
            <a:off x="857250" y="6524625"/>
            <a:ext cx="21336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retention-name">
            <a:extLst>
              <a:ext uri="{FF2B5EF4-FFF2-40B4-BE49-F238E27FC236}">
                <a16:creationId xmlns:a16="http://schemas.microsoft.com/office/drawing/2014/main" id="{532B5706-FB4C-4AE0-919C-BBDC1D64FBD6}"/>
              </a:ext>
            </a:extLst>
          </p:cNvPr>
          <p:cNvSpPr>
            <a:spLocks noGrp="1"/>
          </p:cNvSpPr>
          <p:nvPr/>
        </p:nvSpPr>
        <p:spPr>
          <a:xfrm>
            <a:off x="952500" y="67627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文脈の保持</a:t>
            </a:r>
          </a:p>
        </p:txBody>
      </p:sp>
      <p:sp>
        <p:nvSpPr>
          <p:cNvPr id="24" name="retention-sub">
            <a:extLst>
              <a:ext uri="{FF2B5EF4-FFF2-40B4-BE49-F238E27FC236}">
                <a16:creationId xmlns:a16="http://schemas.microsoft.com/office/drawing/2014/main" id="{524B275F-F357-44C0-BDF4-770F2D47BF1D}"/>
              </a:ext>
            </a:extLst>
          </p:cNvPr>
          <p:cNvSpPr>
            <a:spLocks noGrp="1"/>
          </p:cNvSpPr>
          <p:nvPr/>
        </p:nvSpPr>
        <p:spPr>
          <a:xfrm>
            <a:off x="952500" y="7105650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05:00まで</a:t>
            </a:r>
          </a:p>
        </p:txBody>
      </p:sp>
      <p:sp>
        <p:nvSpPr>
          <p:cNvPr id="25" name="terminal">
            <a:extLst>
              <a:ext uri="{FF2B5EF4-FFF2-40B4-BE49-F238E27FC236}">
                <a16:creationId xmlns:a16="http://schemas.microsoft.com/office/drawing/2014/main" id="{E5C8A1BB-AC7D-43FE-8ECE-6ED7A80655EE}"/>
              </a:ext>
            </a:extLst>
          </p:cNvPr>
          <p:cNvSpPr>
            <a:spLocks noGrp="1"/>
          </p:cNvSpPr>
          <p:nvPr/>
        </p:nvSpPr>
        <p:spPr>
          <a:xfrm>
            <a:off x="3714750" y="6477000"/>
            <a:ext cx="2571750" cy="100012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rminal-name">
            <a:extLst>
              <a:ext uri="{FF2B5EF4-FFF2-40B4-BE49-F238E27FC236}">
                <a16:creationId xmlns:a16="http://schemas.microsoft.com/office/drawing/2014/main" id="{748BF6C2-625D-41E9-B246-5075DCC1916F}"/>
              </a:ext>
            </a:extLst>
          </p:cNvPr>
          <p:cNvSpPr>
            <a:spLocks noGrp="1"/>
          </p:cNvSpPr>
          <p:nvPr/>
        </p:nvSpPr>
        <p:spPr>
          <a:xfrm>
            <a:off x="3810000" y="66579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 b="1">
                <a:solidFill>
                  <a:srgbClr val="007F7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007F7B"/>
                </a:solidFill>
                <a:latin typeface="Hiragino Sans"/>
                <a:ea typeface="Hiragino Sans"/>
                <a:cs typeface="Hiragino Sans"/>
              </a:rPr>
              <a:t>submit_cards</a:t>
            </a:r>
          </a:p>
        </p:txBody>
      </p:sp>
      <p:sp>
        <p:nvSpPr>
          <p:cNvPr id="27" name="terminal-sub">
            <a:extLst>
              <a:ext uri="{FF2B5EF4-FFF2-40B4-BE49-F238E27FC236}">
                <a16:creationId xmlns:a16="http://schemas.microsoft.com/office/drawing/2014/main" id="{08988475-4826-41DD-A8F0-777E3307C401}"/>
              </a:ext>
            </a:extLst>
          </p:cNvPr>
          <p:cNvSpPr>
            <a:spLocks noGrp="1"/>
          </p:cNvSpPr>
          <p:nvPr/>
        </p:nvSpPr>
        <p:spPr>
          <a:xfrm>
            <a:off x="3810000" y="70961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0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message は Tool なし</a:t>
            </a:r>
          </a:p>
        </p:txBody>
      </p:sp>
      <p:sp>
        <p:nvSpPr>
          <p:cNvPr id="28" name="validate">
            <a:extLst>
              <a:ext uri="{FF2B5EF4-FFF2-40B4-BE49-F238E27FC236}">
                <a16:creationId xmlns:a16="http://schemas.microsoft.com/office/drawing/2014/main" id="{D79996FF-ECC1-49EA-83CD-E4EB51F77E8B}"/>
              </a:ext>
            </a:extLst>
          </p:cNvPr>
          <p:cNvSpPr>
            <a:spLocks noGrp="1"/>
          </p:cNvSpPr>
          <p:nvPr/>
        </p:nvSpPr>
        <p:spPr>
          <a:xfrm>
            <a:off x="7105650" y="6477000"/>
            <a:ext cx="3219450" cy="1000125"/>
          </a:xfrm>
          <a:prstGeom prst="roundRect">
            <a:avLst>
              <a:gd name="adj" fmla="val 9524"/>
            </a:avLst>
          </a:prstGeom>
          <a:solidFill>
            <a:srgbClr val="EDF8F6"/>
          </a:solidFill>
          <a:ln w="12859">
            <a:solidFill>
              <a:srgbClr val="007F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validate-name">
            <a:extLst>
              <a:ext uri="{FF2B5EF4-FFF2-40B4-BE49-F238E27FC236}">
                <a16:creationId xmlns:a16="http://schemas.microsoft.com/office/drawing/2014/main" id="{04BAC49A-F818-4D90-989E-3785CF14DE0F}"/>
              </a:ext>
            </a:extLst>
          </p:cNvPr>
          <p:cNvSpPr>
            <a:spLocks noGrp="1"/>
          </p:cNvSpPr>
          <p:nvPr/>
        </p:nvSpPr>
        <p:spPr>
          <a:xfrm>
            <a:off x="7296150" y="6705600"/>
            <a:ext cx="1295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17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Core</a:t>
            </a:r>
          </a:p>
        </p:txBody>
      </p:sp>
      <p:sp>
        <p:nvSpPr>
          <p:cNvPr id="30" name="validate-sub">
            <a:extLst>
              <a:ext uri="{FF2B5EF4-FFF2-40B4-BE49-F238E27FC236}">
                <a16:creationId xmlns:a16="http://schemas.microsoft.com/office/drawing/2014/main" id="{AE283735-8DC4-441C-B207-858A455B132C}"/>
              </a:ext>
            </a:extLst>
          </p:cNvPr>
          <p:cNvSpPr>
            <a:spLocks noGrp="1"/>
          </p:cNvSpPr>
          <p:nvPr/>
        </p:nvSpPr>
        <p:spPr>
          <a:xfrm>
            <a:off x="7200900" y="705802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根拠・条件を検証</a:t>
            </a:r>
          </a:p>
        </p:txBody>
      </p:sp>
      <p:sp>
        <p:nvSpPr>
          <p:cNvPr id="31" name="registry">
            <a:extLst>
              <a:ext uri="{FF2B5EF4-FFF2-40B4-BE49-F238E27FC236}">
                <a16:creationId xmlns:a16="http://schemas.microsoft.com/office/drawing/2014/main" id="{9D334076-9C1F-46C5-8C1F-9DB457CFB0A6}"/>
              </a:ext>
            </a:extLst>
          </p:cNvPr>
          <p:cNvSpPr>
            <a:spLocks noGrp="1"/>
          </p:cNvSpPr>
          <p:nvPr/>
        </p:nvSpPr>
        <p:spPr>
          <a:xfrm>
            <a:off x="11239500" y="6153150"/>
            <a:ext cx="3219450" cy="457200"/>
          </a:xfrm>
          <a:prstGeom prst="roundRect">
            <a:avLst>
              <a:gd name="adj" fmla="val 20833"/>
            </a:avLst>
          </a:prstGeom>
          <a:solidFill>
            <a:srgbClr val="EDF8F6"/>
          </a:solidFill>
          <a:ln w="12859">
            <a:solidFill>
              <a:srgbClr val="007F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registry-name">
            <a:extLst>
              <a:ext uri="{FF2B5EF4-FFF2-40B4-BE49-F238E27FC236}">
                <a16:creationId xmlns:a16="http://schemas.microsoft.com/office/drawing/2014/main" id="{39ACF86F-EECE-414B-B4A2-D23A234FFD7D}"/>
              </a:ext>
            </a:extLst>
          </p:cNvPr>
          <p:cNvSpPr>
            <a:spLocks noGrp="1"/>
          </p:cNvSpPr>
          <p:nvPr/>
        </p:nvSpPr>
        <p:spPr>
          <a:xfrm>
            <a:off x="11334750" y="620077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候補・観測</a:t>
            </a:r>
          </a:p>
        </p:txBody>
      </p:sp>
      <p:sp>
        <p:nvSpPr>
          <p:cNvPr id="33" name="commit">
            <a:extLst>
              <a:ext uri="{FF2B5EF4-FFF2-40B4-BE49-F238E27FC236}">
                <a16:creationId xmlns:a16="http://schemas.microsoft.com/office/drawing/2014/main" id="{43ED5BB7-39A3-4B0D-A1C9-273498351350}"/>
              </a:ext>
            </a:extLst>
          </p:cNvPr>
          <p:cNvSpPr>
            <a:spLocks noGrp="1"/>
          </p:cNvSpPr>
          <p:nvPr/>
        </p:nvSpPr>
        <p:spPr>
          <a:xfrm>
            <a:off x="11239500" y="6962775"/>
            <a:ext cx="3219450" cy="51435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859">
            <a:solidFill>
              <a:srgbClr val="007F7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commit-name">
            <a:extLst>
              <a:ext uri="{FF2B5EF4-FFF2-40B4-BE49-F238E27FC236}">
                <a16:creationId xmlns:a16="http://schemas.microsoft.com/office/drawing/2014/main" id="{77BF4C21-ECB6-4E58-81E2-2FE89571179C}"/>
              </a:ext>
            </a:extLst>
          </p:cNvPr>
          <p:cNvSpPr>
            <a:spLocks noGrp="1"/>
          </p:cNvSpPr>
          <p:nvPr/>
        </p:nvSpPr>
        <p:spPr>
          <a:xfrm>
            <a:off x="11334750" y="7038975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9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応答を確定</a:t>
            </a:r>
          </a:p>
        </p:txBody>
      </p:sp>
      <p:sp>
        <p:nvSpPr>
          <p:cNvPr id="35" name="tools">
            <a:extLst>
              <a:ext uri="{FF2B5EF4-FFF2-40B4-BE49-F238E27FC236}">
                <a16:creationId xmlns:a16="http://schemas.microsoft.com/office/drawing/2014/main" id="{A8B15E97-6E5D-4FFB-9733-4082970ADD07}"/>
              </a:ext>
            </a:extLst>
          </p:cNvPr>
          <p:cNvSpPr>
            <a:spLocks noGrp="1"/>
          </p:cNvSpPr>
          <p:nvPr/>
        </p:nvSpPr>
        <p:spPr>
          <a:xfrm>
            <a:off x="6334125" y="4924425"/>
            <a:ext cx="733425" cy="266700"/>
          </a:xfrm>
          <a:prstGeom prst="rect">
            <a:avLst/>
          </a:prstGeom>
          <a:solidFill>
            <a:srgbClr val="EFF5FA"/>
          </a:solidFill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0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dirty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Tool</a:t>
            </a:r>
          </a:p>
        </p:txBody>
      </p:sp>
      <p:pic>
        <p:nvPicPr>
          <p:cNvPr id="88" name="図 8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86375" y="3638669"/>
            <a:ext cx="1038225" cy="285512"/>
          </a:xfrm>
          <a:prstGeom prst="rect">
            <a:avLst/>
          </a:prstGeom>
        </p:spPr>
      </p:pic>
      <p:pic>
        <p:nvPicPr>
          <p:cNvPr id="89" name="図 8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990975" y="5003304"/>
            <a:ext cx="428625" cy="423267"/>
          </a:xfrm>
          <a:prstGeom prst="rect">
            <a:avLst/>
          </a:prstGeom>
        </p:spPr>
      </p:pic>
      <p:sp>
        <p:nvSpPr>
          <p:cNvPr id="38" name="think-agents-label">
            <a:extLst>
              <a:ext uri="{FF2B5EF4-FFF2-40B4-BE49-F238E27FC236}">
                <a16:creationId xmlns:a16="http://schemas.microsoft.com/office/drawing/2014/main" id="{5701568B-5FCD-4869-8D57-3E853449FA86}"/>
              </a:ext>
            </a:extLst>
          </p:cNvPr>
          <p:cNvSpPr>
            <a:spLocks noGrp="1"/>
          </p:cNvSpPr>
          <p:nvPr/>
        </p:nvSpPr>
        <p:spPr>
          <a:xfrm>
            <a:off x="3829050" y="5476875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Agents SDK</a:t>
            </a:r>
          </a:p>
        </p:txBody>
      </p:sp>
      <p:pic>
        <p:nvPicPr>
          <p:cNvPr id="91" name="図 90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963025" y="6677025"/>
            <a:ext cx="304800" cy="304800"/>
          </a:xfrm>
          <a:prstGeom prst="rect">
            <a:avLst/>
          </a:prstGeom>
        </p:spPr>
      </p:pic>
      <p:sp>
        <p:nvSpPr>
          <p:cNvPr id="40" name="validate-valibot-label">
            <a:extLst>
              <a:ext uri="{FF2B5EF4-FFF2-40B4-BE49-F238E27FC236}">
                <a16:creationId xmlns:a16="http://schemas.microsoft.com/office/drawing/2014/main" id="{1CCB7612-2BAB-4975-AF94-27FD9929B528}"/>
              </a:ext>
            </a:extLst>
          </p:cNvPr>
          <p:cNvSpPr>
            <a:spLocks noGrp="1"/>
          </p:cNvSpPr>
          <p:nvPr/>
        </p:nvSpPr>
        <p:spPr>
          <a:xfrm>
            <a:off x="9382125" y="6691313"/>
            <a:ext cx="847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Valibot</a:t>
            </a:r>
          </a:p>
        </p:txBody>
      </p:sp>
      <p:pic>
        <p:nvPicPr>
          <p:cNvPr id="93" name="図 92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4068425" y="4210050"/>
            <a:ext cx="314325" cy="314325"/>
          </a:xfrm>
          <a:prstGeom prst="rect">
            <a:avLst/>
          </a:prstGeom>
        </p:spPr>
      </p:pic>
      <p:cxnSp>
        <p:nvCxnSpPr>
          <p:cNvPr id="94" name="直線矢印コネクタ 93"/>
          <p:cNvCxnSpPr>
            <a:stCxn id="14" idx="3"/>
            <a:endCxn id="16" idx="1"/>
          </p:cNvCxnSpPr>
          <p:nvPr/>
        </p:nvCxnSpPr>
        <p:spPr>
          <a:xfrm>
            <a:off x="2990850" y="5329238"/>
            <a:ext cx="723900" cy="0"/>
          </a:xfrm>
          <a:prstGeom prst="straightConnector1">
            <a:avLst/>
          </a:prstGeom>
          <a:ln w="19050">
            <a:solidFill>
              <a:srgbClr val="176491"/>
            </a:solidFill>
            <a:prstDash val="solid"/>
            <a:tailEnd type="triangle" w="sm" len="sm"/>
          </a:ln>
        </p:spPr>
      </p:cxnSp>
      <p:cxnSp>
        <p:nvCxnSpPr>
          <p:cNvPr id="95" name="直線矢印コネクタ 94"/>
          <p:cNvCxnSpPr>
            <a:stCxn id="16" idx="0"/>
            <a:endCxn id="5" idx="2"/>
          </p:cNvCxnSpPr>
          <p:nvPr/>
        </p:nvCxnSpPr>
        <p:spPr>
          <a:xfrm flipV="1">
            <a:off x="5000625" y="3552825"/>
            <a:ext cx="0" cy="1257300"/>
          </a:xfrm>
          <a:prstGeom prst="straightConnector1">
            <a:avLst/>
          </a:prstGeom>
          <a:ln w="19050">
            <a:solidFill>
              <a:srgbClr val="17649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96" name="直線矢印コネクタ 95"/>
          <p:cNvCxnSpPr>
            <a:cxnSpLocks/>
            <a:stCxn id="16" idx="3"/>
            <a:endCxn id="18" idx="1"/>
          </p:cNvCxnSpPr>
          <p:nvPr/>
        </p:nvCxnSpPr>
        <p:spPr>
          <a:xfrm>
            <a:off x="6286500" y="5329238"/>
            <a:ext cx="819150" cy="0"/>
          </a:xfrm>
          <a:prstGeom prst="straightConnector1">
            <a:avLst/>
          </a:prstGeom>
          <a:ln w="19050">
            <a:solidFill>
              <a:srgbClr val="17649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97" name="直線矢印コネクタ 96"/>
          <p:cNvCxnSpPr>
            <a:cxnSpLocks/>
            <a:stCxn id="18" idx="3"/>
            <a:endCxn id="20" idx="1"/>
          </p:cNvCxnSpPr>
          <p:nvPr/>
        </p:nvCxnSpPr>
        <p:spPr>
          <a:xfrm>
            <a:off x="10325100" y="5329238"/>
            <a:ext cx="914400" cy="0"/>
          </a:xfrm>
          <a:prstGeom prst="straightConnector1">
            <a:avLst/>
          </a:prstGeom>
          <a:ln w="19050">
            <a:solidFill>
              <a:srgbClr val="17649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98" name="直線矢印コネクタ 97"/>
          <p:cNvCxnSpPr>
            <a:stCxn id="20" idx="0"/>
            <a:endCxn id="8" idx="2"/>
          </p:cNvCxnSpPr>
          <p:nvPr/>
        </p:nvCxnSpPr>
        <p:spPr>
          <a:xfrm flipV="1">
            <a:off x="12849225" y="3552825"/>
            <a:ext cx="0" cy="1257300"/>
          </a:xfrm>
          <a:prstGeom prst="straightConnector1">
            <a:avLst/>
          </a:prstGeom>
          <a:ln w="19050">
            <a:solidFill>
              <a:srgbClr val="17649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99" name="直線矢印コネクタ 98"/>
          <p:cNvCxnSpPr>
            <a:stCxn id="20" idx="2"/>
            <a:endCxn id="31" idx="0"/>
          </p:cNvCxnSpPr>
          <p:nvPr/>
        </p:nvCxnSpPr>
        <p:spPr>
          <a:xfrm>
            <a:off x="12849225" y="5848350"/>
            <a:ext cx="0" cy="304800"/>
          </a:xfrm>
          <a:prstGeom prst="straightConnector1">
            <a:avLst/>
          </a:prstGeom>
          <a:ln w="19050">
            <a:solidFill>
              <a:srgbClr val="007F7B"/>
            </a:solidFill>
            <a:prstDash val="solid"/>
            <a:tailEnd type="triangle" w="sm" len="sm"/>
          </a:ln>
        </p:spPr>
      </p:cxnSp>
      <p:cxnSp>
        <p:nvCxnSpPr>
          <p:cNvPr id="100" name="カギ線コネクタ 99"/>
          <p:cNvCxnSpPr>
            <a:stCxn id="31" idx="1"/>
            <a:endCxn id="28" idx="0"/>
          </p:cNvCxnSpPr>
          <p:nvPr/>
        </p:nvCxnSpPr>
        <p:spPr>
          <a:xfrm flipH="1">
            <a:off x="8715375" y="6381750"/>
            <a:ext cx="2524125" cy="95250"/>
          </a:xfrm>
          <a:prstGeom prst="bentConnector2">
            <a:avLst/>
          </a:prstGeom>
          <a:ln w="19050">
            <a:solidFill>
              <a:srgbClr val="007F7B"/>
            </a:solidFill>
            <a:prstDash val="solid"/>
            <a:tailEnd type="triangle" w="sm" len="sm"/>
          </a:ln>
        </p:spPr>
      </p:cxnSp>
      <p:cxnSp>
        <p:nvCxnSpPr>
          <p:cNvPr id="101" name="直線矢印コネクタ 100"/>
          <p:cNvCxnSpPr>
            <a:stCxn id="16" idx="2"/>
            <a:endCxn id="25" idx="0"/>
          </p:cNvCxnSpPr>
          <p:nvPr/>
        </p:nvCxnSpPr>
        <p:spPr>
          <a:xfrm>
            <a:off x="5000625" y="5848350"/>
            <a:ext cx="0" cy="628650"/>
          </a:xfrm>
          <a:prstGeom prst="straightConnector1">
            <a:avLst/>
          </a:prstGeom>
          <a:ln w="19050">
            <a:solidFill>
              <a:srgbClr val="007F7B"/>
            </a:solidFill>
            <a:prstDash val="solid"/>
            <a:tailEnd type="triangle" w="sm" len="sm"/>
          </a:ln>
        </p:spPr>
      </p:cxnSp>
      <p:cxnSp>
        <p:nvCxnSpPr>
          <p:cNvPr id="102" name="直線矢印コネクタ 101"/>
          <p:cNvCxnSpPr>
            <a:stCxn id="25" idx="3"/>
            <a:endCxn id="28" idx="1"/>
          </p:cNvCxnSpPr>
          <p:nvPr/>
        </p:nvCxnSpPr>
        <p:spPr>
          <a:xfrm>
            <a:off x="6286500" y="6977063"/>
            <a:ext cx="819150" cy="0"/>
          </a:xfrm>
          <a:prstGeom prst="straightConnector1">
            <a:avLst/>
          </a:prstGeom>
          <a:ln w="19050">
            <a:solidFill>
              <a:srgbClr val="007F7B"/>
            </a:solidFill>
            <a:prstDash val="solid"/>
            <a:tailEnd type="triangle" w="sm" len="sm"/>
          </a:ln>
        </p:spPr>
      </p:cxnSp>
      <p:cxnSp>
        <p:nvCxnSpPr>
          <p:cNvPr id="103" name="カギ線コネクタ 102"/>
          <p:cNvCxnSpPr>
            <a:stCxn id="28" idx="3"/>
            <a:endCxn id="33" idx="1"/>
          </p:cNvCxnSpPr>
          <p:nvPr/>
        </p:nvCxnSpPr>
        <p:spPr>
          <a:xfrm>
            <a:off x="10325100" y="6977063"/>
            <a:ext cx="914400" cy="242888"/>
          </a:xfrm>
          <a:prstGeom prst="bentConnector3">
            <a:avLst>
              <a:gd name="adj1" fmla="val 50000"/>
            </a:avLst>
          </a:prstGeom>
          <a:ln w="19050">
            <a:solidFill>
              <a:srgbClr val="007F7B"/>
            </a:solidFill>
            <a:prstDash val="solid"/>
            <a:tailEnd type="triangle" w="sm" len="sm"/>
          </a:ln>
        </p:spPr>
      </p:cxnSp>
      <p:cxnSp>
        <p:nvCxnSpPr>
          <p:cNvPr id="104" name="直線矢印コネクタ 103"/>
          <p:cNvCxnSpPr>
            <a:stCxn id="22" idx="0"/>
            <a:endCxn id="14" idx="2"/>
          </p:cNvCxnSpPr>
          <p:nvPr/>
        </p:nvCxnSpPr>
        <p:spPr>
          <a:xfrm flipV="1">
            <a:off x="1924050" y="5848350"/>
            <a:ext cx="0" cy="676275"/>
          </a:xfrm>
          <a:prstGeom prst="straightConnector1">
            <a:avLst/>
          </a:prstGeom>
          <a:ln w="19050">
            <a:solidFill>
              <a:srgbClr val="526675"/>
            </a:solidFill>
            <a:prstDash val="solid"/>
            <a:tailEnd type="triangle" w="sm" len="sm"/>
          </a:ln>
        </p:spPr>
      </p:cxnSp>
      <p:sp>
        <p:nvSpPr>
          <p:cNvPr id="105" name="tool-search-places">
            <a:extLst>
              <a:ext uri="{FF2B5EF4-FFF2-40B4-BE49-F238E27FC236}">
                <a16:creationId xmlns:a16="http://schemas.microsoft.com/office/drawing/2014/main" id="{FD76C82B-C8C8-4480-9562-130EE1748965}"/>
              </a:ext>
            </a:extLst>
          </p:cNvPr>
          <p:cNvSpPr>
            <a:spLocks noGrp="1"/>
          </p:cNvSpPr>
          <p:nvPr/>
        </p:nvSpPr>
        <p:spPr>
          <a:xfrm>
            <a:off x="7296150" y="5229225"/>
            <a:ext cx="2838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17649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76491"/>
                </a:solidFill>
                <a:latin typeface="Hiragino Sans"/>
                <a:ea typeface="Hiragino Sans"/>
                <a:cs typeface="Hiragino Sans"/>
              </a:rPr>
              <a:t>search_places</a:t>
            </a:r>
          </a:p>
        </p:txBody>
      </p:sp>
      <p:sp>
        <p:nvSpPr>
          <p:cNvPr id="106" name="tool-get-place-details">
            <a:extLst>
              <a:ext uri="{FF2B5EF4-FFF2-40B4-BE49-F238E27FC236}">
                <a16:creationId xmlns:a16="http://schemas.microsoft.com/office/drawing/2014/main" id="{54870418-05AE-4AFF-B357-FC20FC2131A6}"/>
              </a:ext>
            </a:extLst>
          </p:cNvPr>
          <p:cNvSpPr>
            <a:spLocks noGrp="1"/>
          </p:cNvSpPr>
          <p:nvPr/>
        </p:nvSpPr>
        <p:spPr>
          <a:xfrm>
            <a:off x="7296150" y="5524500"/>
            <a:ext cx="28384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650" b="0">
                <a:solidFill>
                  <a:srgbClr val="17649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76491"/>
                </a:solidFill>
                <a:latin typeface="Hiragino Sans"/>
                <a:ea typeface="Hiragino Sans"/>
                <a:cs typeface="Hiragino Sans"/>
              </a:rPr>
              <a:t>get_place_details</a:t>
            </a:r>
          </a:p>
        </p:txBody>
      </p:sp>
    </p:spTree>
    <p:extLst>
      <p:ext uri="{BB962C8B-B14F-4D97-AF65-F5344CB8AC3E}">
        <p14:creationId xmlns:p14="http://schemas.microsoft.com/office/powerpoint/2010/main" val="1673562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-3">
            <a:extLst>
              <a:ext uri="{FF2B5EF4-FFF2-40B4-BE49-F238E27FC236}">
                <a16:creationId xmlns:a16="http://schemas.microsoft.com/office/drawing/2014/main" id="{C124937C-CCCC-4EA1-A70E-BD9AB13D445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2858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インフラ構成</a:t>
            </a:r>
          </a:p>
        </p:txBody>
      </p:sp>
      <p:sp>
        <p:nvSpPr>
          <p:cNvPr id="3" name="page-3">
            <a:extLst>
              <a:ext uri="{FF2B5EF4-FFF2-40B4-BE49-F238E27FC236}">
                <a16:creationId xmlns:a16="http://schemas.microsoft.com/office/drawing/2014/main" id="{07F852DD-82EE-4591-9681-0AD5FA1F0EF9}"/>
              </a:ext>
            </a:extLst>
          </p:cNvPr>
          <p:cNvSpPr>
            <a:spLocks noGrp="1"/>
          </p:cNvSpPr>
          <p:nvPr/>
        </p:nvSpPr>
        <p:spPr>
          <a:xfrm>
            <a:off x="13811250" y="419100"/>
            <a:ext cx="838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2550" b="1">
                <a:solidFill>
                  <a:srgbClr val="007F7B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007F7B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4" name="title-rule-3">
            <a:extLst>
              <a:ext uri="{FF2B5EF4-FFF2-40B4-BE49-F238E27FC236}">
                <a16:creationId xmlns:a16="http://schemas.microsoft.com/office/drawing/2014/main" id="{924AC134-0E54-42C6-8BFF-F28234B8CC4F}"/>
              </a:ext>
            </a:extLst>
          </p:cNvPr>
          <p:cNvSpPr>
            <a:spLocks noGrp="1"/>
          </p:cNvSpPr>
          <p:nvPr/>
        </p:nvSpPr>
        <p:spPr>
          <a:xfrm>
            <a:off x="609600" y="1175513"/>
            <a:ext cx="14020800" cy="19050"/>
          </a:xfrm>
          <a:prstGeom prst="rect">
            <a:avLst/>
          </a:prstGeom>
          <a:solidFill>
            <a:srgbClr val="C7D4D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client">
            <a:extLst>
              <a:ext uri="{FF2B5EF4-FFF2-40B4-BE49-F238E27FC236}">
                <a16:creationId xmlns:a16="http://schemas.microsoft.com/office/drawing/2014/main" id="{BC2176CC-9969-4CED-A21A-8A1339001E05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2476500" cy="4657725"/>
          </a:xfrm>
          <a:prstGeom prst="roundRect">
            <a:avLst>
              <a:gd name="adj" fmla="val 4615"/>
            </a:avLst>
          </a:prstGeom>
          <a:solidFill>
            <a:srgbClr val="F7F9FA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8" name="図 7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5336" y="3810000"/>
            <a:ext cx="727753" cy="647700"/>
          </a:xfrm>
          <a:prstGeom prst="rect">
            <a:avLst/>
          </a:prstGeom>
        </p:spPr>
      </p:pic>
      <p:pic>
        <p:nvPicPr>
          <p:cNvPr id="79" name="図 7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62175" y="3882973"/>
            <a:ext cx="495300" cy="454128"/>
          </a:xfrm>
          <a:prstGeom prst="rect">
            <a:avLst/>
          </a:prstGeom>
        </p:spPr>
      </p:pic>
      <p:sp>
        <p:nvSpPr>
          <p:cNvPr id="8" name="client-name">
            <a:extLst>
              <a:ext uri="{FF2B5EF4-FFF2-40B4-BE49-F238E27FC236}">
                <a16:creationId xmlns:a16="http://schemas.microsoft.com/office/drawing/2014/main" id="{100C7CDA-580E-4023-AA6C-67B6496C2712}"/>
              </a:ext>
            </a:extLst>
          </p:cNvPr>
          <p:cNvSpPr>
            <a:spLocks noGrp="1"/>
          </p:cNvSpPr>
          <p:nvPr/>
        </p:nvSpPr>
        <p:spPr>
          <a:xfrm>
            <a:off x="800100" y="488632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1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iPhone</a:t>
            </a:r>
          </a:p>
        </p:txBody>
      </p:sp>
      <p:sp>
        <p:nvSpPr>
          <p:cNvPr id="9" name="client-separator">
            <a:extLst>
              <a:ext uri="{FF2B5EF4-FFF2-40B4-BE49-F238E27FC236}">
                <a16:creationId xmlns:a16="http://schemas.microsoft.com/office/drawing/2014/main" id="{7810CA7F-DD4D-4E26-A851-21A8192438A8}"/>
              </a:ext>
            </a:extLst>
          </p:cNvPr>
          <p:cNvSpPr>
            <a:spLocks noGrp="1"/>
          </p:cNvSpPr>
          <p:nvPr/>
        </p:nvSpPr>
        <p:spPr>
          <a:xfrm>
            <a:off x="866775" y="5257800"/>
            <a:ext cx="1962150" cy="9525"/>
          </a:xfrm>
          <a:prstGeom prst="rect">
            <a:avLst/>
          </a:prstGeom>
          <a:solidFill>
            <a:srgbClr val="C7D4D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2" name="図 8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08849" y="5600700"/>
            <a:ext cx="1078003" cy="485775"/>
          </a:xfrm>
          <a:prstGeom prst="rect">
            <a:avLst/>
          </a:prstGeom>
        </p:spPr>
      </p:pic>
      <p:sp>
        <p:nvSpPr>
          <p:cNvPr id="11" name="client-cache">
            <a:extLst>
              <a:ext uri="{FF2B5EF4-FFF2-40B4-BE49-F238E27FC236}">
                <a16:creationId xmlns:a16="http://schemas.microsoft.com/office/drawing/2014/main" id="{E328D247-20A6-4BD4-AE8B-1611303845AB}"/>
              </a:ext>
            </a:extLst>
          </p:cNvPr>
          <p:cNvSpPr>
            <a:spLocks noGrp="1"/>
          </p:cNvSpPr>
          <p:nvPr/>
        </p:nvSpPr>
        <p:spPr>
          <a:xfrm>
            <a:off x="800100" y="63246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7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725" b="1" dirty="0">
                <a:latin typeface="Hiragino Sans"/>
                <a:ea typeface="Hiragino Sans"/>
                <a:cs typeface="Hiragino Sans"/>
              </a:rPr>
              <a:t>Client DB</a:t>
            </a:r>
            <a:endParaRPr sz="1725" b="1" dirty="0"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12" name="client-securestore">
            <a:extLst>
              <a:ext uri="{FF2B5EF4-FFF2-40B4-BE49-F238E27FC236}">
                <a16:creationId xmlns:a16="http://schemas.microsoft.com/office/drawing/2014/main" id="{EE415B75-B580-4671-91CD-5E2FEF48E628}"/>
              </a:ext>
            </a:extLst>
          </p:cNvPr>
          <p:cNvSpPr>
            <a:spLocks noGrp="1"/>
          </p:cNvSpPr>
          <p:nvPr/>
        </p:nvSpPr>
        <p:spPr>
          <a:xfrm>
            <a:off x="800100" y="71056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SecureStore</a:t>
            </a:r>
          </a:p>
        </p:txBody>
      </p:sp>
      <p:sp>
        <p:nvSpPr>
          <p:cNvPr id="13" name="client-credentials">
            <a:extLst>
              <a:ext uri="{FF2B5EF4-FFF2-40B4-BE49-F238E27FC236}">
                <a16:creationId xmlns:a16="http://schemas.microsoft.com/office/drawing/2014/main" id="{3EEB83A0-0EFE-46FA-9257-F0F4C1999994}"/>
              </a:ext>
            </a:extLst>
          </p:cNvPr>
          <p:cNvSpPr>
            <a:spLocks noGrp="1"/>
          </p:cNvSpPr>
          <p:nvPr/>
        </p:nvSpPr>
        <p:spPr>
          <a:xfrm>
            <a:off x="800100" y="74676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認証情報</a:t>
            </a:r>
          </a:p>
        </p:txBody>
      </p:sp>
      <p:sp>
        <p:nvSpPr>
          <p:cNvPr id="14" name="cloud">
            <a:extLst>
              <a:ext uri="{FF2B5EF4-FFF2-40B4-BE49-F238E27FC236}">
                <a16:creationId xmlns:a16="http://schemas.microsoft.com/office/drawing/2014/main" id="{19538732-0D68-4CDB-B7C6-4C0E68A26303}"/>
              </a:ext>
            </a:extLst>
          </p:cNvPr>
          <p:cNvSpPr>
            <a:spLocks noGrp="1"/>
          </p:cNvSpPr>
          <p:nvPr/>
        </p:nvSpPr>
        <p:spPr>
          <a:xfrm>
            <a:off x="3819525" y="2981325"/>
            <a:ext cx="7896225" cy="5219700"/>
          </a:xfrm>
          <a:prstGeom prst="roundRect">
            <a:avLst>
              <a:gd name="adj" fmla="val 2190"/>
            </a:avLst>
          </a:prstGeom>
          <a:solidFill>
            <a:srgbClr val="EFF5FA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7" name="図 8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257675" y="3337655"/>
            <a:ext cx="1200150" cy="545318"/>
          </a:xfrm>
          <a:prstGeom prst="rect">
            <a:avLst/>
          </a:prstGeom>
        </p:spPr>
      </p:pic>
      <p:sp>
        <p:nvSpPr>
          <p:cNvPr id="16" name="ingress">
            <a:extLst>
              <a:ext uri="{FF2B5EF4-FFF2-40B4-BE49-F238E27FC236}">
                <a16:creationId xmlns:a16="http://schemas.microsoft.com/office/drawing/2014/main" id="{15C7E0FD-A2A3-4C82-95B1-A90194680E5F}"/>
              </a:ext>
            </a:extLst>
          </p:cNvPr>
          <p:cNvSpPr>
            <a:spLocks noGrp="1"/>
          </p:cNvSpPr>
          <p:nvPr/>
        </p:nvSpPr>
        <p:spPr>
          <a:xfrm>
            <a:off x="4095750" y="5048250"/>
            <a:ext cx="2133600" cy="1743075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9" name="図 8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57675" y="5363170"/>
            <a:ext cx="1809750" cy="475059"/>
          </a:xfrm>
          <a:prstGeom prst="rect">
            <a:avLst/>
          </a:prstGeom>
        </p:spPr>
      </p:pic>
      <p:sp>
        <p:nvSpPr>
          <p:cNvPr id="18" name="ingress-name">
            <a:extLst>
              <a:ext uri="{FF2B5EF4-FFF2-40B4-BE49-F238E27FC236}">
                <a16:creationId xmlns:a16="http://schemas.microsoft.com/office/drawing/2014/main" id="{1E676ACF-C96E-4E69-9568-47BCE84C09BD}"/>
              </a:ext>
            </a:extLst>
          </p:cNvPr>
          <p:cNvSpPr>
            <a:spLocks noGrp="1"/>
          </p:cNvSpPr>
          <p:nvPr/>
        </p:nvSpPr>
        <p:spPr>
          <a:xfrm>
            <a:off x="4191000" y="6181725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22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API</a:t>
            </a:r>
          </a:p>
        </p:txBody>
      </p:sp>
      <p:sp>
        <p:nvSpPr>
          <p:cNvPr id="19" name="do-group">
            <a:extLst>
              <a:ext uri="{FF2B5EF4-FFF2-40B4-BE49-F238E27FC236}">
                <a16:creationId xmlns:a16="http://schemas.microsoft.com/office/drawing/2014/main" id="{49D2890E-00EA-46A5-A5CD-6C7C17C38B7B}"/>
              </a:ext>
            </a:extLst>
          </p:cNvPr>
          <p:cNvSpPr>
            <a:spLocks noGrp="1"/>
          </p:cNvSpPr>
          <p:nvPr/>
        </p:nvSpPr>
        <p:spPr>
          <a:xfrm>
            <a:off x="6943725" y="3914775"/>
            <a:ext cx="4562475" cy="4086225"/>
          </a:xfrm>
          <a:prstGeom prst="roundRect">
            <a:avLst>
              <a:gd name="adj" fmla="val 2331"/>
            </a:avLst>
          </a:prstGeom>
          <a:noFill/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2" name="図 9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143750" y="4048125"/>
            <a:ext cx="323850" cy="323850"/>
          </a:xfrm>
          <a:prstGeom prst="rect">
            <a:avLst/>
          </a:prstGeom>
        </p:spPr>
      </p:pic>
      <p:sp>
        <p:nvSpPr>
          <p:cNvPr id="21" name="do-title">
            <a:extLst>
              <a:ext uri="{FF2B5EF4-FFF2-40B4-BE49-F238E27FC236}">
                <a16:creationId xmlns:a16="http://schemas.microsoft.com/office/drawing/2014/main" id="{AD34B27A-E212-429C-A6F3-88EAD81A23BE}"/>
              </a:ext>
            </a:extLst>
          </p:cNvPr>
          <p:cNvSpPr>
            <a:spLocks noGrp="1"/>
          </p:cNvSpPr>
          <p:nvPr/>
        </p:nvSpPr>
        <p:spPr>
          <a:xfrm>
            <a:off x="7591425" y="4067175"/>
            <a:ext cx="34861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1">
                <a:solidFill>
                  <a:srgbClr val="176491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76491"/>
                </a:solidFill>
                <a:latin typeface="Hiragino Sans"/>
                <a:ea typeface="Hiragino Sans"/>
                <a:cs typeface="Hiragino Sans"/>
              </a:rPr>
              <a:t>Durable Objects</a:t>
            </a:r>
          </a:p>
        </p:txBody>
      </p:sp>
      <p:pic>
        <p:nvPicPr>
          <p:cNvPr id="94" name="図 9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82201" y="4417038"/>
            <a:ext cx="1083690" cy="488338"/>
          </a:xfrm>
          <a:prstGeom prst="rect">
            <a:avLst/>
          </a:prstGeom>
        </p:spPr>
      </p:pic>
      <p:sp>
        <p:nvSpPr>
          <p:cNvPr id="23" name="saved">
            <a:extLst>
              <a:ext uri="{FF2B5EF4-FFF2-40B4-BE49-F238E27FC236}">
                <a16:creationId xmlns:a16="http://schemas.microsoft.com/office/drawing/2014/main" id="{88146B10-1693-42B7-8D69-78EDB1BC4458}"/>
              </a:ext>
            </a:extLst>
          </p:cNvPr>
          <p:cNvSpPr>
            <a:spLocks noGrp="1"/>
          </p:cNvSpPr>
          <p:nvPr/>
        </p:nvSpPr>
        <p:spPr>
          <a:xfrm>
            <a:off x="7162800" y="5019675"/>
            <a:ext cx="193357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6" name="図 95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296150" y="5238750"/>
            <a:ext cx="390525" cy="390525"/>
          </a:xfrm>
          <a:prstGeom prst="rect">
            <a:avLst/>
          </a:prstGeom>
        </p:spPr>
      </p:pic>
      <p:sp>
        <p:nvSpPr>
          <p:cNvPr id="25" name="saved-title">
            <a:extLst>
              <a:ext uri="{FF2B5EF4-FFF2-40B4-BE49-F238E27FC236}">
                <a16:creationId xmlns:a16="http://schemas.microsoft.com/office/drawing/2014/main" id="{8A662994-2FD2-4443-B60D-3BCC1992B776}"/>
              </a:ext>
            </a:extLst>
          </p:cNvPr>
          <p:cNvSpPr>
            <a:spLocks noGrp="1"/>
          </p:cNvSpPr>
          <p:nvPr/>
        </p:nvSpPr>
        <p:spPr>
          <a:xfrm>
            <a:off x="7791450" y="528637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保存・条件</a:t>
            </a:r>
          </a:p>
        </p:txBody>
      </p:sp>
      <p:sp>
        <p:nvSpPr>
          <p:cNvPr id="26" name="thread-do">
            <a:extLst>
              <a:ext uri="{FF2B5EF4-FFF2-40B4-BE49-F238E27FC236}">
                <a16:creationId xmlns:a16="http://schemas.microsoft.com/office/drawing/2014/main" id="{CECCCF8A-5A24-438A-8B0E-C720114CCB9E}"/>
              </a:ext>
            </a:extLst>
          </p:cNvPr>
          <p:cNvSpPr>
            <a:spLocks noGrp="1"/>
          </p:cNvSpPr>
          <p:nvPr/>
        </p:nvSpPr>
        <p:spPr>
          <a:xfrm>
            <a:off x="9353550" y="5019675"/>
            <a:ext cx="193357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9" name="図 9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486900" y="5238750"/>
            <a:ext cx="390525" cy="390525"/>
          </a:xfrm>
          <a:prstGeom prst="rect">
            <a:avLst/>
          </a:prstGeom>
        </p:spPr>
      </p:pic>
      <p:sp>
        <p:nvSpPr>
          <p:cNvPr id="28" name="thread-do-title">
            <a:extLst>
              <a:ext uri="{FF2B5EF4-FFF2-40B4-BE49-F238E27FC236}">
                <a16:creationId xmlns:a16="http://schemas.microsoft.com/office/drawing/2014/main" id="{CD93F13B-C644-4881-9AD2-4F56FBA48E1F}"/>
              </a:ext>
            </a:extLst>
          </p:cNvPr>
          <p:cNvSpPr>
            <a:spLocks noGrp="1"/>
          </p:cNvSpPr>
          <p:nvPr/>
        </p:nvSpPr>
        <p:spPr>
          <a:xfrm>
            <a:off x="9982200" y="528637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会話実行</a:t>
            </a:r>
          </a:p>
        </p:txBody>
      </p:sp>
      <p:sp>
        <p:nvSpPr>
          <p:cNvPr id="29" name="rate">
            <a:extLst>
              <a:ext uri="{FF2B5EF4-FFF2-40B4-BE49-F238E27FC236}">
                <a16:creationId xmlns:a16="http://schemas.microsoft.com/office/drawing/2014/main" id="{F0B9BD01-D7AF-4632-A2CE-2DD33EC300D1}"/>
              </a:ext>
            </a:extLst>
          </p:cNvPr>
          <p:cNvSpPr>
            <a:spLocks noGrp="1"/>
          </p:cNvSpPr>
          <p:nvPr/>
        </p:nvSpPr>
        <p:spPr>
          <a:xfrm>
            <a:off x="7162800" y="6010275"/>
            <a:ext cx="193357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2" name="図 10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296150" y="6229350"/>
            <a:ext cx="390525" cy="390525"/>
          </a:xfrm>
          <a:prstGeom prst="rect">
            <a:avLst/>
          </a:prstGeom>
        </p:spPr>
      </p:pic>
      <p:sp>
        <p:nvSpPr>
          <p:cNvPr id="31" name="rate-title">
            <a:extLst>
              <a:ext uri="{FF2B5EF4-FFF2-40B4-BE49-F238E27FC236}">
                <a16:creationId xmlns:a16="http://schemas.microsoft.com/office/drawing/2014/main" id="{EC95F7E8-3240-4DC9-BC34-5D79F5341039}"/>
              </a:ext>
            </a:extLst>
          </p:cNvPr>
          <p:cNvSpPr>
            <a:spLocks noGrp="1"/>
          </p:cNvSpPr>
          <p:nvPr/>
        </p:nvSpPr>
        <p:spPr>
          <a:xfrm>
            <a:off x="7791450" y="627697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要求制限</a:t>
            </a:r>
          </a:p>
        </p:txBody>
      </p:sp>
      <p:sp>
        <p:nvSpPr>
          <p:cNvPr id="32" name="telemetry">
            <a:extLst>
              <a:ext uri="{FF2B5EF4-FFF2-40B4-BE49-F238E27FC236}">
                <a16:creationId xmlns:a16="http://schemas.microsoft.com/office/drawing/2014/main" id="{DB9D703A-8246-4ACA-B38F-DC8CA64ACE31}"/>
              </a:ext>
            </a:extLst>
          </p:cNvPr>
          <p:cNvSpPr>
            <a:spLocks noGrp="1"/>
          </p:cNvSpPr>
          <p:nvPr/>
        </p:nvSpPr>
        <p:spPr>
          <a:xfrm>
            <a:off x="9353550" y="6010275"/>
            <a:ext cx="1933575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5" name="図 10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486900" y="6229350"/>
            <a:ext cx="390525" cy="390525"/>
          </a:xfrm>
          <a:prstGeom prst="rect">
            <a:avLst/>
          </a:prstGeom>
        </p:spPr>
      </p:pic>
      <p:sp>
        <p:nvSpPr>
          <p:cNvPr id="34" name="telemetry-title">
            <a:extLst>
              <a:ext uri="{FF2B5EF4-FFF2-40B4-BE49-F238E27FC236}">
                <a16:creationId xmlns:a16="http://schemas.microsoft.com/office/drawing/2014/main" id="{DB5B127A-9089-42B9-8458-B0F849E9549E}"/>
              </a:ext>
            </a:extLst>
          </p:cNvPr>
          <p:cNvSpPr>
            <a:spLocks noGrp="1"/>
          </p:cNvSpPr>
          <p:nvPr/>
        </p:nvSpPr>
        <p:spPr>
          <a:xfrm>
            <a:off x="9982200" y="6276975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運用計測</a:t>
            </a:r>
          </a:p>
        </p:txBody>
      </p:sp>
      <p:sp>
        <p:nvSpPr>
          <p:cNvPr id="35" name="attest">
            <a:extLst>
              <a:ext uri="{FF2B5EF4-FFF2-40B4-BE49-F238E27FC236}">
                <a16:creationId xmlns:a16="http://schemas.microsoft.com/office/drawing/2014/main" id="{44D18C55-40CC-47E3-A368-00F2F6BA1FE9}"/>
              </a:ext>
            </a:extLst>
          </p:cNvPr>
          <p:cNvSpPr>
            <a:spLocks noGrp="1"/>
          </p:cNvSpPr>
          <p:nvPr/>
        </p:nvSpPr>
        <p:spPr>
          <a:xfrm>
            <a:off x="7162800" y="7000875"/>
            <a:ext cx="1933575" cy="857250"/>
          </a:xfrm>
          <a:prstGeom prst="roundRect">
            <a:avLst>
              <a:gd name="adj" fmla="val 8889"/>
            </a:avLst>
          </a:prstGeom>
          <a:solidFill>
            <a:srgbClr val="FFF7EA"/>
          </a:solidFill>
          <a:ln w="12859">
            <a:solidFill>
              <a:srgbClr val="AD631C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8" name="図 10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296150" y="7219950"/>
            <a:ext cx="390525" cy="390525"/>
          </a:xfrm>
          <a:prstGeom prst="rect">
            <a:avLst/>
          </a:prstGeom>
        </p:spPr>
      </p:pic>
      <p:sp>
        <p:nvSpPr>
          <p:cNvPr id="37" name="attest-title">
            <a:extLst>
              <a:ext uri="{FF2B5EF4-FFF2-40B4-BE49-F238E27FC236}">
                <a16:creationId xmlns:a16="http://schemas.microsoft.com/office/drawing/2014/main" id="{C7FAD087-E161-440C-AAF1-DF6E6F33C0DD}"/>
              </a:ext>
            </a:extLst>
          </p:cNvPr>
          <p:cNvSpPr>
            <a:spLocks noGrp="1"/>
          </p:cNvSpPr>
          <p:nvPr/>
        </p:nvSpPr>
        <p:spPr>
          <a:xfrm>
            <a:off x="7791450" y="712470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アプリ検証</a:t>
            </a:r>
          </a:p>
        </p:txBody>
      </p:sp>
      <p:sp>
        <p:nvSpPr>
          <p:cNvPr id="38" name="attest-status">
            <a:extLst>
              <a:ext uri="{FF2B5EF4-FFF2-40B4-BE49-F238E27FC236}">
                <a16:creationId xmlns:a16="http://schemas.microsoft.com/office/drawing/2014/main" id="{55D2AC6F-7F2E-4022-8207-3C6EAFD4A5CA}"/>
              </a:ext>
            </a:extLst>
          </p:cNvPr>
          <p:cNvSpPr>
            <a:spLocks noGrp="1"/>
          </p:cNvSpPr>
          <p:nvPr/>
        </p:nvSpPr>
        <p:spPr>
          <a:xfrm>
            <a:off x="7791450" y="7486650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25" b="0">
                <a:solidFill>
                  <a:srgbClr val="AD631C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AD631C"/>
                </a:solidFill>
                <a:latin typeface="Hiragino Sans"/>
                <a:ea typeface="Hiragino Sans"/>
                <a:cs typeface="Hiragino Sans"/>
              </a:rPr>
              <a:t>未接続</a:t>
            </a:r>
          </a:p>
        </p:txBody>
      </p:sp>
      <p:sp>
        <p:nvSpPr>
          <p:cNvPr id="39" name="journey">
            <a:extLst>
              <a:ext uri="{FF2B5EF4-FFF2-40B4-BE49-F238E27FC236}">
                <a16:creationId xmlns:a16="http://schemas.microsoft.com/office/drawing/2014/main" id="{8C528319-CA22-4A4D-9DEA-16CBFDD63C69}"/>
              </a:ext>
            </a:extLst>
          </p:cNvPr>
          <p:cNvSpPr>
            <a:spLocks noGrp="1"/>
          </p:cNvSpPr>
          <p:nvPr/>
        </p:nvSpPr>
        <p:spPr>
          <a:xfrm>
            <a:off x="9353550" y="7000875"/>
            <a:ext cx="1933575" cy="857250"/>
          </a:xfrm>
          <a:prstGeom prst="roundRect">
            <a:avLst>
              <a:gd name="adj" fmla="val 8889"/>
            </a:avLst>
          </a:prstGeom>
          <a:solidFill>
            <a:srgbClr val="FFF7EA"/>
          </a:solidFill>
          <a:ln w="12859">
            <a:solidFill>
              <a:srgbClr val="AD631C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2" name="図 111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486900" y="7219950"/>
            <a:ext cx="390525" cy="390525"/>
          </a:xfrm>
          <a:prstGeom prst="rect">
            <a:avLst/>
          </a:prstGeom>
        </p:spPr>
      </p:pic>
      <p:sp>
        <p:nvSpPr>
          <p:cNvPr id="41" name="journey-title">
            <a:extLst>
              <a:ext uri="{FF2B5EF4-FFF2-40B4-BE49-F238E27FC236}">
                <a16:creationId xmlns:a16="http://schemas.microsoft.com/office/drawing/2014/main" id="{4C4762C7-2395-4EA7-82C6-C5C517EFED1A}"/>
              </a:ext>
            </a:extLst>
          </p:cNvPr>
          <p:cNvSpPr>
            <a:spLocks noGrp="1"/>
          </p:cNvSpPr>
          <p:nvPr/>
        </p:nvSpPr>
        <p:spPr>
          <a:xfrm>
            <a:off x="9982200" y="712470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終電データ</a:t>
            </a:r>
          </a:p>
        </p:txBody>
      </p:sp>
      <p:sp>
        <p:nvSpPr>
          <p:cNvPr id="42" name="journey-status">
            <a:extLst>
              <a:ext uri="{FF2B5EF4-FFF2-40B4-BE49-F238E27FC236}">
                <a16:creationId xmlns:a16="http://schemas.microsoft.com/office/drawing/2014/main" id="{E7F1E7FE-7E03-4DDF-9EC4-9911D4C2CD5A}"/>
              </a:ext>
            </a:extLst>
          </p:cNvPr>
          <p:cNvSpPr>
            <a:spLocks noGrp="1"/>
          </p:cNvSpPr>
          <p:nvPr/>
        </p:nvSpPr>
        <p:spPr>
          <a:xfrm>
            <a:off x="9982200" y="7486650"/>
            <a:ext cx="1190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25" b="0">
                <a:solidFill>
                  <a:srgbClr val="AD631C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AD631C"/>
                </a:solidFill>
                <a:latin typeface="Hiragino Sans"/>
                <a:ea typeface="Hiragino Sans"/>
                <a:cs typeface="Hiragino Sans"/>
              </a:rPr>
              <a:t>未提供</a:t>
            </a:r>
          </a:p>
        </p:txBody>
      </p:sp>
      <p:sp>
        <p:nvSpPr>
          <p:cNvPr id="43" name="external-ai">
            <a:extLst>
              <a:ext uri="{FF2B5EF4-FFF2-40B4-BE49-F238E27FC236}">
                <a16:creationId xmlns:a16="http://schemas.microsoft.com/office/drawing/2014/main" id="{E5CE79D3-6D08-40D6-BADE-C4BED2B268DA}"/>
              </a:ext>
            </a:extLst>
          </p:cNvPr>
          <p:cNvSpPr>
            <a:spLocks noGrp="1"/>
          </p:cNvSpPr>
          <p:nvPr/>
        </p:nvSpPr>
        <p:spPr>
          <a:xfrm>
            <a:off x="12477750" y="4143375"/>
            <a:ext cx="21526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6" name="図 115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849225" y="4000500"/>
            <a:ext cx="1409700" cy="1409700"/>
          </a:xfrm>
          <a:prstGeom prst="rect">
            <a:avLst/>
          </a:prstGeom>
        </p:spPr>
      </p:pic>
      <p:sp>
        <p:nvSpPr>
          <p:cNvPr id="45" name="external-ai-name">
            <a:extLst>
              <a:ext uri="{FF2B5EF4-FFF2-40B4-BE49-F238E27FC236}">
                <a16:creationId xmlns:a16="http://schemas.microsoft.com/office/drawing/2014/main" id="{0C7114DB-0EBA-4ED5-B6FB-8E55F808329B}"/>
              </a:ext>
            </a:extLst>
          </p:cNvPr>
          <p:cNvSpPr>
            <a:spLocks noGrp="1"/>
          </p:cNvSpPr>
          <p:nvPr/>
        </p:nvSpPr>
        <p:spPr>
          <a:xfrm>
            <a:off x="12649200" y="5299075"/>
            <a:ext cx="1838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7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lang="en-US" sz="1875" b="1" dirty="0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Luna5.6 max</a:t>
            </a:r>
            <a:endParaRPr sz="1875" b="1" dirty="0">
              <a:solidFill>
                <a:srgbClr val="142E3B"/>
              </a:solidFill>
              <a:latin typeface="Hiragino Sans"/>
              <a:ea typeface="Hiragino Sans"/>
              <a:cs typeface="Hiragino Sans"/>
            </a:endParaRPr>
          </a:p>
        </p:txBody>
      </p:sp>
      <p:sp>
        <p:nvSpPr>
          <p:cNvPr id="46" name="external-hp">
            <a:extLst>
              <a:ext uri="{FF2B5EF4-FFF2-40B4-BE49-F238E27FC236}">
                <a16:creationId xmlns:a16="http://schemas.microsoft.com/office/drawing/2014/main" id="{9A3B1887-1A5C-4B05-AE6B-EA101221E1D1}"/>
              </a:ext>
            </a:extLst>
          </p:cNvPr>
          <p:cNvSpPr>
            <a:spLocks noGrp="1"/>
          </p:cNvSpPr>
          <p:nvPr/>
        </p:nvSpPr>
        <p:spPr>
          <a:xfrm>
            <a:off x="12477750" y="6419850"/>
            <a:ext cx="2152650" cy="1438275"/>
          </a:xfrm>
          <a:prstGeom prst="roundRect">
            <a:avLst>
              <a:gd name="adj" fmla="val 6623"/>
            </a:avLst>
          </a:prstGeom>
          <a:solidFill>
            <a:srgbClr val="FFFFFF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9" name="図 118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553950" y="6677999"/>
            <a:ext cx="2000250" cy="340952"/>
          </a:xfrm>
          <a:prstGeom prst="rect">
            <a:avLst/>
          </a:prstGeom>
        </p:spPr>
      </p:pic>
      <p:sp>
        <p:nvSpPr>
          <p:cNvPr id="48" name="external-hp-name">
            <a:extLst>
              <a:ext uri="{FF2B5EF4-FFF2-40B4-BE49-F238E27FC236}">
                <a16:creationId xmlns:a16="http://schemas.microsoft.com/office/drawing/2014/main" id="{D51D67D5-D33D-40B9-AC80-7DA0BDB663BF}"/>
              </a:ext>
            </a:extLst>
          </p:cNvPr>
          <p:cNvSpPr>
            <a:spLocks noGrp="1"/>
          </p:cNvSpPr>
          <p:nvPr/>
        </p:nvSpPr>
        <p:spPr>
          <a:xfrm>
            <a:off x="12573000" y="73914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店舗・写真</a:t>
            </a:r>
          </a:p>
        </p:txBody>
      </p:sp>
      <p:sp>
        <p:nvSpPr>
          <p:cNvPr id="49" name="https">
            <a:extLst>
              <a:ext uri="{FF2B5EF4-FFF2-40B4-BE49-F238E27FC236}">
                <a16:creationId xmlns:a16="http://schemas.microsoft.com/office/drawing/2014/main" id="{6FA10F54-F909-4003-B6E1-541491F132C7}"/>
              </a:ext>
            </a:extLst>
          </p:cNvPr>
          <p:cNvSpPr>
            <a:spLocks noGrp="1"/>
          </p:cNvSpPr>
          <p:nvPr/>
        </p:nvSpPr>
        <p:spPr>
          <a:xfrm>
            <a:off x="3105150" y="5448300"/>
            <a:ext cx="95250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HTTPS</a:t>
            </a:r>
          </a:p>
        </p:txBody>
      </p:sp>
      <p:sp>
        <p:nvSpPr>
          <p:cNvPr id="50" name="rpc">
            <a:extLst>
              <a:ext uri="{FF2B5EF4-FFF2-40B4-BE49-F238E27FC236}">
                <a16:creationId xmlns:a16="http://schemas.microsoft.com/office/drawing/2014/main" id="{482702D0-9D54-4EE1-B6EB-360E9DFF731C}"/>
              </a:ext>
            </a:extLst>
          </p:cNvPr>
          <p:cNvSpPr>
            <a:spLocks noGrp="1"/>
          </p:cNvSpPr>
          <p:nvPr/>
        </p:nvSpPr>
        <p:spPr>
          <a:xfrm>
            <a:off x="6229350" y="5486400"/>
            <a:ext cx="714375" cy="266700"/>
          </a:xfrm>
          <a:prstGeom prst="rect">
            <a:avLst/>
          </a:prstGeom>
          <a:solidFill>
            <a:srgbClr val="EFF5FA"/>
          </a:solidFill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4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RPC</a:t>
            </a:r>
          </a:p>
        </p:txBody>
      </p:sp>
      <p:sp>
        <p:nvSpPr>
          <p:cNvPr id="51" name="infra-react-label">
            <a:extLst>
              <a:ext uri="{FF2B5EF4-FFF2-40B4-BE49-F238E27FC236}">
                <a16:creationId xmlns:a16="http://schemas.microsoft.com/office/drawing/2014/main" id="{9BD66405-688A-45AD-88F1-1C4394ABADBF}"/>
              </a:ext>
            </a:extLst>
          </p:cNvPr>
          <p:cNvSpPr>
            <a:spLocks noGrp="1"/>
          </p:cNvSpPr>
          <p:nvPr/>
        </p:nvSpPr>
        <p:spPr>
          <a:xfrm>
            <a:off x="819150" y="4505325"/>
            <a:ext cx="1104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React Native</a:t>
            </a:r>
          </a:p>
        </p:txBody>
      </p:sp>
      <p:sp>
        <p:nvSpPr>
          <p:cNvPr id="52" name="infra-expo-label">
            <a:extLst>
              <a:ext uri="{FF2B5EF4-FFF2-40B4-BE49-F238E27FC236}">
                <a16:creationId xmlns:a16="http://schemas.microsoft.com/office/drawing/2014/main" id="{6AB681B4-6F1B-47BC-8B4A-266858EE9FCB}"/>
              </a:ext>
            </a:extLst>
          </p:cNvPr>
          <p:cNvSpPr>
            <a:spLocks noGrp="1"/>
          </p:cNvSpPr>
          <p:nvPr/>
        </p:nvSpPr>
        <p:spPr>
          <a:xfrm>
            <a:off x="2009775" y="4505325"/>
            <a:ext cx="7905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Expo</a:t>
            </a:r>
          </a:p>
        </p:txBody>
      </p:sp>
      <p:sp>
        <p:nvSpPr>
          <p:cNvPr id="53" name="build-ci">
            <a:extLst>
              <a:ext uri="{FF2B5EF4-FFF2-40B4-BE49-F238E27FC236}">
                <a16:creationId xmlns:a16="http://schemas.microsoft.com/office/drawing/2014/main" id="{91B5D09F-119F-4AE7-9E7A-8AFB56701A0B}"/>
              </a:ext>
            </a:extLst>
          </p:cNvPr>
          <p:cNvSpPr>
            <a:spLocks noGrp="1"/>
          </p:cNvSpPr>
          <p:nvPr/>
        </p:nvSpPr>
        <p:spPr>
          <a:xfrm>
            <a:off x="3819525" y="1847850"/>
            <a:ext cx="7896225" cy="952500"/>
          </a:xfrm>
          <a:prstGeom prst="roundRect">
            <a:avLst>
              <a:gd name="adj" fmla="val 10000"/>
            </a:avLst>
          </a:prstGeom>
          <a:solidFill>
            <a:srgbClr val="F7F9FA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build-ci-title">
            <a:extLst>
              <a:ext uri="{FF2B5EF4-FFF2-40B4-BE49-F238E27FC236}">
                <a16:creationId xmlns:a16="http://schemas.microsoft.com/office/drawing/2014/main" id="{AB6A35EE-1412-4161-8AB1-C146B6971421}"/>
              </a:ext>
            </a:extLst>
          </p:cNvPr>
          <p:cNvSpPr>
            <a:spLocks noGrp="1"/>
          </p:cNvSpPr>
          <p:nvPr/>
        </p:nvSpPr>
        <p:spPr>
          <a:xfrm>
            <a:off x="4029075" y="1962150"/>
            <a:ext cx="7000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00" b="1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開発・品質検査</a:t>
            </a:r>
          </a:p>
        </p:txBody>
      </p:sp>
      <p:pic>
        <p:nvPicPr>
          <p:cNvPr id="127" name="図 126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029075" y="2324100"/>
            <a:ext cx="314325" cy="314325"/>
          </a:xfrm>
          <a:prstGeom prst="rect">
            <a:avLst/>
          </a:prstGeom>
        </p:spPr>
      </p:pic>
      <p:sp>
        <p:nvSpPr>
          <p:cNvPr id="56" name="ci-github-label">
            <a:extLst>
              <a:ext uri="{FF2B5EF4-FFF2-40B4-BE49-F238E27FC236}">
                <a16:creationId xmlns:a16="http://schemas.microsoft.com/office/drawing/2014/main" id="{AE81E7E4-E79C-4477-B9A4-7E28FFFC6446}"/>
              </a:ext>
            </a:extLst>
          </p:cNvPr>
          <p:cNvSpPr>
            <a:spLocks noGrp="1"/>
          </p:cNvSpPr>
          <p:nvPr/>
        </p:nvSpPr>
        <p:spPr>
          <a:xfrm>
            <a:off x="4457700" y="234315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GitHub Actions</a:t>
            </a:r>
          </a:p>
        </p:txBody>
      </p:sp>
      <p:pic>
        <p:nvPicPr>
          <p:cNvPr id="129" name="図 128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898821" y="2295525"/>
            <a:ext cx="413657" cy="361950"/>
          </a:xfrm>
          <a:prstGeom prst="rect">
            <a:avLst/>
          </a:prstGeom>
        </p:spPr>
      </p:pic>
      <p:sp>
        <p:nvSpPr>
          <p:cNvPr id="58" name="ci-bun-label">
            <a:extLst>
              <a:ext uri="{FF2B5EF4-FFF2-40B4-BE49-F238E27FC236}">
                <a16:creationId xmlns:a16="http://schemas.microsoft.com/office/drawing/2014/main" id="{2FE2BD6A-B006-460C-8752-656EB2B01597}"/>
              </a:ext>
            </a:extLst>
          </p:cNvPr>
          <p:cNvSpPr>
            <a:spLocks noGrp="1"/>
          </p:cNvSpPr>
          <p:nvPr/>
        </p:nvSpPr>
        <p:spPr>
          <a:xfrm>
            <a:off x="7429500" y="2338388"/>
            <a:ext cx="847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Bun</a:t>
            </a:r>
          </a:p>
        </p:txBody>
      </p:sp>
      <p:pic>
        <p:nvPicPr>
          <p:cNvPr id="131" name="図 130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8829675" y="2315501"/>
            <a:ext cx="542925" cy="331524"/>
          </a:xfrm>
          <a:prstGeom prst="rect">
            <a:avLst/>
          </a:prstGeom>
        </p:spPr>
      </p:pic>
      <p:sp>
        <p:nvSpPr>
          <p:cNvPr id="60" name="ci-vitest-label">
            <a:extLst>
              <a:ext uri="{FF2B5EF4-FFF2-40B4-BE49-F238E27FC236}">
                <a16:creationId xmlns:a16="http://schemas.microsoft.com/office/drawing/2014/main" id="{652E460E-E06D-414E-8A85-54624B9E30D0}"/>
              </a:ext>
            </a:extLst>
          </p:cNvPr>
          <p:cNvSpPr>
            <a:spLocks noGrp="1"/>
          </p:cNvSpPr>
          <p:nvPr/>
        </p:nvSpPr>
        <p:spPr>
          <a:xfrm>
            <a:off x="9486900" y="2343150"/>
            <a:ext cx="11334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50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Vitest</a:t>
            </a:r>
          </a:p>
        </p:txBody>
      </p:sp>
      <p:sp>
        <p:nvSpPr>
          <p:cNvPr id="61" name="eas">
            <a:extLst>
              <a:ext uri="{FF2B5EF4-FFF2-40B4-BE49-F238E27FC236}">
                <a16:creationId xmlns:a16="http://schemas.microsoft.com/office/drawing/2014/main" id="{A85D9A02-2A39-4658-B1E8-DE7B1FE17799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2476500" cy="800100"/>
          </a:xfrm>
          <a:prstGeom prst="roundRect">
            <a:avLst>
              <a:gd name="adj" fmla="val 11905"/>
            </a:avLst>
          </a:prstGeom>
          <a:solidFill>
            <a:srgbClr val="F7F9FA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4" name="図 1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50" y="2224844"/>
            <a:ext cx="361950" cy="331863"/>
          </a:xfrm>
          <a:prstGeom prst="rect">
            <a:avLst/>
          </a:prstGeom>
        </p:spPr>
      </p:pic>
      <p:sp>
        <p:nvSpPr>
          <p:cNvPr id="63" name="eas-name">
            <a:extLst>
              <a:ext uri="{FF2B5EF4-FFF2-40B4-BE49-F238E27FC236}">
                <a16:creationId xmlns:a16="http://schemas.microsoft.com/office/drawing/2014/main" id="{557B4AAB-057A-4F9E-9D60-E2CAB976E455}"/>
              </a:ext>
            </a:extLst>
          </p:cNvPr>
          <p:cNvSpPr>
            <a:spLocks noGrp="1"/>
          </p:cNvSpPr>
          <p:nvPr/>
        </p:nvSpPr>
        <p:spPr>
          <a:xfrm>
            <a:off x="1333500" y="2105025"/>
            <a:ext cx="1552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EAS</a:t>
            </a:r>
          </a:p>
        </p:txBody>
      </p:sp>
      <p:sp>
        <p:nvSpPr>
          <p:cNvPr id="64" name="eas-role">
            <a:extLst>
              <a:ext uri="{FF2B5EF4-FFF2-40B4-BE49-F238E27FC236}">
                <a16:creationId xmlns:a16="http://schemas.microsoft.com/office/drawing/2014/main" id="{88BE81EC-38CE-4970-A846-F2BA44A48118}"/>
              </a:ext>
            </a:extLst>
          </p:cNvPr>
          <p:cNvSpPr>
            <a:spLocks noGrp="1"/>
          </p:cNvSpPr>
          <p:nvPr/>
        </p:nvSpPr>
        <p:spPr>
          <a:xfrm>
            <a:off x="1333500" y="2447925"/>
            <a:ext cx="15525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26675"/>
                </a:solidFill>
                <a:latin typeface="Hiragino Sans"/>
                <a:ea typeface="Hiragino Sans"/>
                <a:cs typeface="Hiragino Sans"/>
              </a:rPr>
              <a:t>ビルド構成</a:t>
            </a:r>
          </a:p>
        </p:txBody>
      </p:sp>
      <p:sp>
        <p:nvSpPr>
          <p:cNvPr id="65" name="wrangler">
            <a:extLst>
              <a:ext uri="{FF2B5EF4-FFF2-40B4-BE49-F238E27FC236}">
                <a16:creationId xmlns:a16="http://schemas.microsoft.com/office/drawing/2014/main" id="{DCAA9925-96C2-4268-897B-1A45748BABBF}"/>
              </a:ext>
            </a:extLst>
          </p:cNvPr>
          <p:cNvSpPr>
            <a:spLocks noGrp="1"/>
          </p:cNvSpPr>
          <p:nvPr/>
        </p:nvSpPr>
        <p:spPr>
          <a:xfrm>
            <a:off x="12477750" y="2000250"/>
            <a:ext cx="2152650" cy="800100"/>
          </a:xfrm>
          <a:prstGeom prst="roundRect">
            <a:avLst>
              <a:gd name="adj" fmla="val 11905"/>
            </a:avLst>
          </a:prstGeom>
          <a:solidFill>
            <a:srgbClr val="F7F9FA"/>
          </a:solidFill>
          <a:ln w="12859">
            <a:solidFill>
              <a:srgbClr val="C7D4D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8" name="図 13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611100" y="2270888"/>
            <a:ext cx="485775" cy="220724"/>
          </a:xfrm>
          <a:prstGeom prst="rect">
            <a:avLst/>
          </a:prstGeom>
        </p:spPr>
      </p:pic>
      <p:sp>
        <p:nvSpPr>
          <p:cNvPr id="67" name="wrangler-name">
            <a:extLst>
              <a:ext uri="{FF2B5EF4-FFF2-40B4-BE49-F238E27FC236}">
                <a16:creationId xmlns:a16="http://schemas.microsoft.com/office/drawing/2014/main" id="{7D2BF7A0-96A1-42E2-A569-661476431BF6}"/>
              </a:ext>
            </a:extLst>
          </p:cNvPr>
          <p:cNvSpPr>
            <a:spLocks noGrp="1"/>
          </p:cNvSpPr>
          <p:nvPr/>
        </p:nvSpPr>
        <p:spPr>
          <a:xfrm>
            <a:off x="13215937" y="22574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1">
                <a:solidFill>
                  <a:srgbClr val="142E3B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dirty="0">
                <a:solidFill>
                  <a:srgbClr val="142E3B"/>
                </a:solidFill>
                <a:latin typeface="Hiragino Sans"/>
                <a:ea typeface="Hiragino Sans"/>
                <a:cs typeface="Hiragino Sans"/>
              </a:rPr>
              <a:t>Wrangler</a:t>
            </a:r>
          </a:p>
        </p:txBody>
      </p:sp>
      <p:cxnSp>
        <p:nvCxnSpPr>
          <p:cNvPr id="141" name="カギ線コネクタ 140"/>
          <p:cNvCxnSpPr>
            <a:stCxn id="5" idx="3"/>
            <a:endCxn id="16" idx="1"/>
          </p:cNvCxnSpPr>
          <p:nvPr/>
        </p:nvCxnSpPr>
        <p:spPr>
          <a:xfrm>
            <a:off x="3086100" y="5757863"/>
            <a:ext cx="1009650" cy="161925"/>
          </a:xfrm>
          <a:prstGeom prst="bentConnector3">
            <a:avLst>
              <a:gd name="adj1" fmla="val 50000"/>
            </a:avLst>
          </a:prstGeom>
          <a:ln w="19050">
            <a:solidFill>
              <a:srgbClr val="17649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42" name="カギ線コネクタ 141"/>
          <p:cNvCxnSpPr>
            <a:stCxn id="16" idx="3"/>
            <a:endCxn id="19" idx="1"/>
          </p:cNvCxnSpPr>
          <p:nvPr/>
        </p:nvCxnSpPr>
        <p:spPr>
          <a:xfrm>
            <a:off x="6229350" y="5919788"/>
            <a:ext cx="714375" cy="38100"/>
          </a:xfrm>
          <a:prstGeom prst="bentConnector3">
            <a:avLst>
              <a:gd name="adj1" fmla="val 50000"/>
            </a:avLst>
          </a:prstGeom>
          <a:ln w="19050">
            <a:solidFill>
              <a:srgbClr val="17649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43" name="カギ線コネクタ 142"/>
          <p:cNvCxnSpPr>
            <a:stCxn id="26" idx="3"/>
            <a:endCxn id="43" idx="1"/>
          </p:cNvCxnSpPr>
          <p:nvPr/>
        </p:nvCxnSpPr>
        <p:spPr>
          <a:xfrm flipV="1">
            <a:off x="11287125" y="4953000"/>
            <a:ext cx="1190625" cy="495300"/>
          </a:xfrm>
          <a:prstGeom prst="bentConnector3">
            <a:avLst>
              <a:gd name="adj1" fmla="val 50000"/>
            </a:avLst>
          </a:prstGeom>
          <a:ln w="19050">
            <a:solidFill>
              <a:srgbClr val="176491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44" name="カギ線コネクタ 143"/>
          <p:cNvCxnSpPr>
            <a:stCxn id="26" idx="3"/>
            <a:endCxn id="46" idx="1"/>
          </p:cNvCxnSpPr>
          <p:nvPr/>
        </p:nvCxnSpPr>
        <p:spPr>
          <a:xfrm>
            <a:off x="11287125" y="5448300"/>
            <a:ext cx="1190625" cy="1690688"/>
          </a:xfrm>
          <a:prstGeom prst="bentConnector3">
            <a:avLst>
              <a:gd name="adj1" fmla="val 50000"/>
            </a:avLst>
          </a:prstGeom>
          <a:ln w="19050">
            <a:solidFill>
              <a:srgbClr val="007F7B"/>
            </a:solidFill>
            <a:prstDash val="solid"/>
            <a:headEnd type="triangl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973707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4059</Words>
  <Application>Microsoft Macintosh PowerPoint</Application>
  <DocSecurity>0</DocSecurity>
  <PresentationFormat>ユーザー設定</PresentationFormat>
  <Paragraphs>400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Hiragino Sans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高木 優希 23610119</cp:lastModifiedBy>
  <cp:revision>2</cp:revision>
  <dcterms:created xsi:type="dcterms:W3CDTF">2026-09-19T05:28:03Z</dcterms:created>
  <dcterms:modified xsi:type="dcterms:W3CDTF">2026-09-19T05:54:44Z</dcterms:modified>
</cp:coreProperties>
</file>